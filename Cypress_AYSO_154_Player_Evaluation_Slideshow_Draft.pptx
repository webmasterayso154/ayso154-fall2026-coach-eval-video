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1391eb7d404f4e" /><Relationship Type="http://schemas.openxmlformats.org/officeDocument/2006/relationships/extended-properties" Target="/docProps/app.xml" Id="Rb5bb19b196f64217" /><Relationship Type="http://schemas.openxmlformats.org/officeDocument/2006/relationships/officeDocument" Target="/ppt/presentation.xml" Id="Rb59227984e864ec4" /></Relationships>
</file>

<file path=ppt/presentation.xml><?xml version="1.0" encoding="utf-8"?>
<p:presentation xmlns:p="http://schemas.openxmlformats.org/presentationml/2006/main">
  <p:sldMasterIdLst>
    <p:sldMasterId xmlns:r="http://schemas.openxmlformats.org/officeDocument/2006/relationships" id="2147483648" r:id="R68cd66270cce44cc"/>
  </p:sldMasterIdLst>
  <p:notesMasterIdLst>
    <p:notesMasterId xmlns:r="http://schemas.openxmlformats.org/officeDocument/2006/relationships" r:id="R0c5835244deb489e"/>
  </p:notesMasterIdLst>
  <p:sldIdLst>
    <p:sldId xmlns:r="http://schemas.openxmlformats.org/officeDocument/2006/relationships" id="256" r:id="R242bdf3c1a43490d"/>
    <p:sldId xmlns:r="http://schemas.openxmlformats.org/officeDocument/2006/relationships" id="257" r:id="R24757c0a327145bc"/>
    <p:sldId xmlns:r="http://schemas.openxmlformats.org/officeDocument/2006/relationships" id="258" r:id="R5e4d417f3b3a4d15"/>
    <p:sldId xmlns:r="http://schemas.openxmlformats.org/officeDocument/2006/relationships" id="259" r:id="R7fdaec004d0743be"/>
    <p:sldId xmlns:r="http://schemas.openxmlformats.org/officeDocument/2006/relationships" id="260" r:id="R55f738d837a544ce"/>
    <p:sldId xmlns:r="http://schemas.openxmlformats.org/officeDocument/2006/relationships" id="261" r:id="Rca3b0db56f8a4637"/>
    <p:sldId xmlns:r="http://schemas.openxmlformats.org/officeDocument/2006/relationships" id="262" r:id="R850bcb6e11b44d8f"/>
    <p:sldId xmlns:r="http://schemas.openxmlformats.org/officeDocument/2006/relationships" id="263" r:id="Ra21b044282a1406a"/>
    <p:sldId xmlns:r="http://schemas.openxmlformats.org/officeDocument/2006/relationships" id="264" r:id="Rf2a914904cf44a65"/>
    <p:sldId xmlns:r="http://schemas.openxmlformats.org/officeDocument/2006/relationships" id="265" r:id="R03a9a3a4cb9c41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2d7ea8659d408e" /><Relationship Type="http://schemas.openxmlformats.org/officeDocument/2006/relationships/slideMaster" Target="/ppt/slideMasters/slideMaster1.xml" Id="R68cd66270cce44cc" /><Relationship Type="http://schemas.openxmlformats.org/officeDocument/2006/relationships/notesMaster" Target="/ppt/notesMasters/notesMaster1.xml" Id="R0c5835244deb489e" /><Relationship Type="http://schemas.openxmlformats.org/officeDocument/2006/relationships/presProps" Target="/ppt/presProps.xml" Id="R6eaad5a48dd94f03" /><Relationship Type="http://schemas.openxmlformats.org/officeDocument/2006/relationships/tableStyles" Target="/ppt/tableStyles.xml" Id="Rf1b76387d0a64e23" /><Relationship Type="http://schemas.openxmlformats.org/officeDocument/2006/relationships/slide" Target="/ppt/slides/slide1.xml" Id="R242bdf3c1a43490d" /><Relationship Type="http://schemas.openxmlformats.org/officeDocument/2006/relationships/slide" Target="/ppt/slides/slide2.xml" Id="R24757c0a327145bc" /><Relationship Type="http://schemas.openxmlformats.org/officeDocument/2006/relationships/slide" Target="/ppt/slides/slide3.xml" Id="R5e4d417f3b3a4d15" /><Relationship Type="http://schemas.openxmlformats.org/officeDocument/2006/relationships/slide" Target="/ppt/slides/slide4.xml" Id="R7fdaec004d0743be" /><Relationship Type="http://schemas.openxmlformats.org/officeDocument/2006/relationships/slide" Target="/ppt/slides/slide5.xml" Id="R55f738d837a544ce" /><Relationship Type="http://schemas.openxmlformats.org/officeDocument/2006/relationships/slide" Target="/ppt/slides/slide6.xml" Id="Rca3b0db56f8a4637" /><Relationship Type="http://schemas.openxmlformats.org/officeDocument/2006/relationships/slide" Target="/ppt/slides/slide7.xml" Id="R850bcb6e11b44d8f" /><Relationship Type="http://schemas.openxmlformats.org/officeDocument/2006/relationships/slide" Target="/ppt/slides/slide8.xml" Id="Ra21b044282a1406a" /><Relationship Type="http://schemas.openxmlformats.org/officeDocument/2006/relationships/slide" Target="/ppt/slides/slide9.xml" Id="Rf2a914904cf44a65" /><Relationship Type="http://schemas.openxmlformats.org/officeDocument/2006/relationships/slide" Target="/ppt/slides/slide10.xml" Id="R03a9a3a4cb9c41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cd814015fd4d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98e5ae8dd34fdb" /><Relationship Type="http://schemas.openxmlformats.org/officeDocument/2006/relationships/notesMaster" Target="/ppt/notesMasters/notesMaster1.xml" Id="Ra9ce9a5f9e1c4f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6d79e26ba34138" /><Relationship Type="http://schemas.openxmlformats.org/officeDocument/2006/relationships/notesMaster" Target="/ppt/notesMasters/notesMaster1.xml" Id="Ra7bc63277aab44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0a6117910d4931" /><Relationship Type="http://schemas.openxmlformats.org/officeDocument/2006/relationships/notesMaster" Target="/ppt/notesMasters/notesMaster1.xml" Id="R8e483596823742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ed2beb37cc4038" /><Relationship Type="http://schemas.openxmlformats.org/officeDocument/2006/relationships/notesMaster" Target="/ppt/notesMasters/notesMaster1.xml" Id="Rbab782692ebd47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7a4ad0c0124607" /><Relationship Type="http://schemas.openxmlformats.org/officeDocument/2006/relationships/notesMaster" Target="/ppt/notesMasters/notesMaster1.xml" Id="R766e63dd439049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a467e5f458461d" /><Relationship Type="http://schemas.openxmlformats.org/officeDocument/2006/relationships/notesMaster" Target="/ppt/notesMasters/notesMaster1.xml" Id="Rf393baac2cf14f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307199ee1747d5" /><Relationship Type="http://schemas.openxmlformats.org/officeDocument/2006/relationships/notesMaster" Target="/ppt/notesMasters/notesMaster1.xml" Id="R94fd65fe591d4a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411fbba69549a9" /><Relationship Type="http://schemas.openxmlformats.org/officeDocument/2006/relationships/notesMaster" Target="/ppt/notesMasters/notesMaster1.xml" Id="Re40b86f56d8644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79cf9dfee44fec" /><Relationship Type="http://schemas.openxmlformats.org/officeDocument/2006/relationships/notesMaster" Target="/ppt/notesMasters/notesMaster1.xml" Id="R047705bcff8c4e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437c9a42b3422f" /><Relationship Type="http://schemas.openxmlformats.org/officeDocument/2006/relationships/notesMaster" Target="/ppt/notesMasters/notesMaster1.xml" Id="R01f244228d064f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coaching in Cypress AYSO Region 154. Your observations help the Region form balanced teams so more children can learn, contribute, and enjoy the game. This short guide focuses on a few practical habits that make player ratings clearer, fairer, and more consistent.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useful information for balanced team formation. Compare a player with others throughout the same division, not only with teammates. Keep ratings within the coach and division process. Most important, remember that a number describes what we observed this season. It never describes a child's value or future potential.</a:t>
            </a:r>
          </a:p>
          <a:p xmlns:a="http://schemas.openxmlformats.org/drawingml/2006/main">
            <a:r>
              <a:t/>
            </a:r>
          </a:p>
          <a:p xmlns:a="http://schemas.openxmlformats.org/drawingml/2006/main">
            <a:r>
              <a:t>Source: 2026 Coach Eval Guide.pdf, pages 1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the rating from a pattern. Think across several games and different situations. Compare the player with the division as a whole. Look for actions that appear more than once. A single goal, missed kick, unusual opponent, or short shift should not decide the final number.</a:t>
            </a:r>
          </a:p>
          <a:p xmlns:a="http://schemas.openxmlformats.org/drawingml/2006/main">
            <a:r>
              <a:t/>
            </a:r>
          </a:p>
          <a:p xmlns:a="http://schemas.openxmlformats.org/drawingml/2006/main">
            <a:r>
              <a:t>Source: 2026 Coach Eval Guide.pdf,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habits can distort ratings. First, we may confuse a wonderful attitude with current soccer ability. Second, we may place nearly everyone near the top. Third, we may remember only the player with the ball. Respect the person, use the entire scale, and widen your view to the full 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full scale. A five is rare and repeatedly changes games. A four consistently contributes above the division average. A three is a solid, reliable player and the backbone of a balanced division. A two is developing and needs support. A one is still building basic comfort and coordination. The labels should remain respectful and behavior based.</a:t>
            </a:r>
          </a:p>
          <a:p xmlns:a="http://schemas.openxmlformats.org/drawingml/2006/main">
            <a:r>
              <a:t/>
            </a:r>
          </a:p>
          <a:p xmlns:a="http://schemas.openxmlformats.org/drawingml/2006/main">
            <a:r>
              <a:t>Source: 2026 Coach Eval Guide.pdf, page 1; wording adapted for family-friendly coach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several lenses. Technical ability includes first touch, control, and passing. Awareness includes spacing, support, and reaction after a turnover. Game pace asks whether the player stays connected and recovers into play. Engagement means safely approaching ordinary challenges and continuing after mistakes. Evaluate goalkeeping only when you have actually observed it.</a:t>
            </a:r>
          </a:p>
          <a:p xmlns:a="http://schemas.openxmlformats.org/drawingml/2006/main">
            <a:r>
              <a:t/>
            </a:r>
          </a:p>
          <a:p xmlns:a="http://schemas.openxmlformats.org/drawingml/2006/main">
            <a:r>
              <a:t>Source: 2026 Coach Eval Guide.pdf, pages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Widen the view beyond the player with the ball. Notice who moves into useful space before a pass arrives. Watch the first response when possession changes. A support run, good spacing, or quick recovery may influence the play even when that player never touches the ball.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process manageable. Focus on two or three players for several minutes, then rotate. Watch what each player does with and without the ball. After the match, write one or two concrete examples while the play is fresh. If the opportunity never appeared, leave that skill unobserved and look again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observable notes make the final rating easier to defend and compare. Replace labels such as great player or not aggressive with the action you saw. Record attendance and family volunteering where the Region requests them, but keep those facts separate from the player's soccer skill rating.</a:t>
            </a:r>
          </a:p>
          <a:p xmlns:a="http://schemas.openxmlformats.org/drawingml/2006/main">
            <a:r>
              <a:t/>
            </a:r>
          </a:p>
          <a:p xmlns:a="http://schemas.openxmlformats.org/drawingml/2006/main">
            <a:r>
              <a:t>Source: 2026 Coach Eval Guide.pdf, pages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giving Cypress AYSO players your time and attention. Clear, consistent observations help Region 154 form balanced teams and create better experiences for every child. Balanced teams start with honest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75c2ee5f804f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a7b29ba95843b4" /><Relationship Type="http://schemas.openxmlformats.org/officeDocument/2006/relationships/slideLayout" Target="/ppt/slideLayouts/slideLayout1.xml" Id="R596b2a88258f44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6b2a88258f44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9ceee175134de1" /><Relationship Type="http://schemas.openxmlformats.org/officeDocument/2006/relationships/image" Target="/ppt/media/image.png" Id="R8364bd9964424dcf" /><Relationship Type="http://schemas.openxmlformats.org/officeDocument/2006/relationships/image" Target="/ppt/media/image.jpeg" Id="Ra13e2c8bfbd24aaf" /><Relationship Type="http://schemas.openxmlformats.org/officeDocument/2006/relationships/notesSlide" Target="/ppt/notesSlides/notesSlide1.xml" Id="Ra4cc50cbb03645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e08432d76540d3" /><Relationship Type="http://schemas.openxmlformats.org/officeDocument/2006/relationships/image" Target="/ppt/media/image2.jpeg" Id="R0f37aaf6a72146e8" /><Relationship Type="http://schemas.openxmlformats.org/officeDocument/2006/relationships/notesSlide" Target="/ppt/notesSlides/notesSlide2.xml" Id="Rd31d93d81ba74b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e8e50e7d9d4de7" /><Relationship Type="http://schemas.openxmlformats.org/officeDocument/2006/relationships/image" Target="/ppt/media/image3.jpeg" Id="R07b39c4a300540f4" /><Relationship Type="http://schemas.openxmlformats.org/officeDocument/2006/relationships/notesSlide" Target="/ppt/notesSlides/notesSlide3.xml" Id="R9db1cb21d6834f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f25e5146334ca8" /><Relationship Type="http://schemas.openxmlformats.org/officeDocument/2006/relationships/image" Target="/ppt/media/image4.jpeg" Id="Re24bbaa7122d43f9" /><Relationship Type="http://schemas.openxmlformats.org/officeDocument/2006/relationships/notesSlide" Target="/ppt/notesSlides/notesSlide4.xml" Id="Ra94a0ae7b03b4b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5f964f5bab48bb" /><Relationship Type="http://schemas.openxmlformats.org/officeDocument/2006/relationships/image" Target="/ppt/media/image5.jpeg" Id="Rc6bb49732fb24156" /><Relationship Type="http://schemas.openxmlformats.org/officeDocument/2006/relationships/notesSlide" Target="/ppt/notesSlides/notesSlide5.xml" Id="Raa7ba823b68946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76d5969adf4b34" /><Relationship Type="http://schemas.openxmlformats.org/officeDocument/2006/relationships/image" Target="/ppt/media/image6.jpeg" Id="R62e80cfaec1e4bc9" /><Relationship Type="http://schemas.openxmlformats.org/officeDocument/2006/relationships/notesSlide" Target="/ppt/notesSlides/notesSlide6.xml" Id="Rd508fbcf230d4d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696ba4c46e419d" /><Relationship Type="http://schemas.openxmlformats.org/officeDocument/2006/relationships/image" Target="/ppt/media/image2.png" Id="Rcedec9363cad4ef1" /><Relationship Type="http://schemas.openxmlformats.org/officeDocument/2006/relationships/image" Target="/ppt/media/image7.jpeg" Id="Re68bb7dd1f8d4899" /><Relationship Type="http://schemas.openxmlformats.org/officeDocument/2006/relationships/notesSlide" Target="/ppt/notesSlides/notesSlide7.xml" Id="Re0168afe87584b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4dd4b3287f43bf" /><Relationship Type="http://schemas.openxmlformats.org/officeDocument/2006/relationships/image" Target="/ppt/media/image3.png" Id="Rafdb9a3816894ad1" /><Relationship Type="http://schemas.openxmlformats.org/officeDocument/2006/relationships/notesSlide" Target="/ppt/notesSlides/notesSlide8.xml" Id="Ra90c668d474246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76c1707fca45fd" /><Relationship Type="http://schemas.openxmlformats.org/officeDocument/2006/relationships/image" Target="/ppt/media/image8.jpeg" Id="Rd04dd59017a0431f" /><Relationship Type="http://schemas.openxmlformats.org/officeDocument/2006/relationships/notesSlide" Target="/ppt/notesSlides/notesSlide9.xml" Id="R7897103dd3f242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0c418027ee497b" /><Relationship Type="http://schemas.openxmlformats.org/officeDocument/2006/relationships/image" Target="/ppt/media/image9.jpeg" Id="R0cb284950574444d" /><Relationship Type="http://schemas.openxmlformats.org/officeDocument/2006/relationships/notesSlide" Target="/ppt/notesSlides/notesSlide10.xml" Id="R5c1b4808238146b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364bd9964424dc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D948B7-7275-421F-BCB3-2EAC26B65423}"/>
              </a:ext>
            </a:extLst>
          </p:cNvPr>
          <p:cNvSpPr>
            <a:spLocks xmlns:a="http://schemas.openxmlformats.org/drawingml/2006/main" noGrp="1"/>
          </p:cNvSpPr>
          <p:nvPr/>
        </p:nvSpPr>
        <p:spPr>
          <a:xfrm xmlns:a="http://schemas.openxmlformats.org/drawingml/2006/main">
            <a:off x="0" y="0"/>
            <a:ext cx="5095875" cy="6858000"/>
          </a:xfrm>
          <a:prstGeom xmlns:a="http://schemas.openxmlformats.org/drawingml/2006/main" prst="rect">
            <a:avLst/>
          </a:prstGeom>
          <a:solidFill xmlns:a="http://schemas.openxmlformats.org/drawingml/2006/main">
            <a:srgbClr val="1E326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3551B0-21EC-42FB-BD99-9F9AD97C18CA}"/>
              </a:ext>
            </a:extLst>
          </p:cNvPr>
          <p:cNvSpPr>
            <a:spLocks xmlns:a="http://schemas.openxmlformats.org/drawingml/2006/main" noGrp="1"/>
          </p:cNvSpPr>
          <p:nvPr/>
        </p:nvSpPr>
        <p:spPr>
          <a:xfrm xmlns:a="http://schemas.openxmlformats.org/drawingml/2006/main">
            <a:off x="5095875" y="0"/>
            <a:ext cx="114300" cy="6858000"/>
          </a:xfrm>
          <a:prstGeom xmlns:a="http://schemas.openxmlformats.org/drawingml/2006/main" prst="rect">
            <a:avLst/>
          </a:prstGeom>
          <a:solidFill xmlns:a="http://schemas.openxmlformats.org/drawingml/2006/main">
            <a:srgbClr val="E3232E"/>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3e2c8bfbd24aaf"/>
          <a:stretch xmlns:a="http://schemas.openxmlformats.org/drawingml/2006/main"/>
        </p:blipFill>
        <p:spPr>
          <a:xfrm xmlns:a="http://schemas.openxmlformats.org/drawingml/2006/main">
            <a:off x="647700" y="495300"/>
            <a:ext cx="1257300" cy="1257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776574A-9C8F-424D-ABA1-7D231E2648BE}"/>
              </a:ext>
            </a:extLst>
          </p:cNvPr>
          <p:cNvSpPr>
            <a:spLocks xmlns:a="http://schemas.openxmlformats.org/drawingml/2006/main" noGrp="1"/>
          </p:cNvSpPr>
          <p:nvPr/>
        </p:nvSpPr>
        <p:spPr>
          <a:xfrm xmlns:a="http://schemas.openxmlformats.org/drawingml/2006/main">
            <a:off x="647700" y="2076450"/>
            <a:ext cx="3905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Evaluating</a:t>
            </a:r>
          </a:p>
          <a:p xmlns:a="http://schemas.openxmlformats.org/drawingml/2006/main">
            <a:pPr algn="l">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Players Fairly</a:t>
            </a:r>
          </a:p>
        </p:txBody>
      </p:sp>
      <p:sp>
        <p:nvSpPr>
          <p:cNvPr id="6" name="">
            <a:extLst xmlns:a="http://schemas.openxmlformats.org/drawingml/2006/main">
              <a:ext uri="{FF2B5EF4-FFF2-40B4-BE49-F238E27FC236}">
                <a16:creationId xmlns:a16="http://schemas.microsoft.com/office/drawing/2014/main" id="{4C408A96-9ABD-42D9-9FDE-9E4AEBF35CDC}"/>
              </a:ext>
            </a:extLst>
          </p:cNvPr>
          <p:cNvSpPr>
            <a:spLocks xmlns:a="http://schemas.openxmlformats.org/drawingml/2006/main" noGrp="1"/>
          </p:cNvSpPr>
          <p:nvPr/>
        </p:nvSpPr>
        <p:spPr>
          <a:xfrm xmlns:a="http://schemas.openxmlformats.org/drawingml/2006/main">
            <a:off x="666750" y="396240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702"/>
          </a:bodyPr>
          <a:lstStyle xmlns:a="http://schemas.openxmlformats.org/drawingml/2006/main"/>
          <a:p xmlns:a="http://schemas.openxmlformats.org/drawingml/2006/main">
            <a:pPr algn="l">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A short guide for volunteer coaches</a:t>
            </a:r>
          </a:p>
        </p:txBody>
      </p:sp>
      <p:sp>
        <p:nvSpPr>
          <p:cNvPr id="7" name="">
            <a:extLst xmlns:a="http://schemas.openxmlformats.org/drawingml/2006/main">
              <a:ext uri="{FF2B5EF4-FFF2-40B4-BE49-F238E27FC236}">
                <a16:creationId xmlns:a16="http://schemas.microsoft.com/office/drawing/2014/main" id="{F87352C5-61BE-4248-B72A-CD986664D866}"/>
              </a:ext>
            </a:extLst>
          </p:cNvPr>
          <p:cNvSpPr>
            <a:spLocks xmlns:a="http://schemas.openxmlformats.org/drawingml/2006/main" noGrp="1"/>
          </p:cNvSpPr>
          <p:nvPr/>
        </p:nvSpPr>
        <p:spPr>
          <a:xfrm xmlns:a="http://schemas.openxmlformats.org/drawingml/2006/main">
            <a:off x="666750" y="561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Cypress AYSO Region 154</a:t>
            </a:r>
          </a:p>
        </p:txBody>
      </p:sp>
      <p:sp>
        <p:nvSpPr>
          <p:cNvPr id="8" name="">
            <a:extLst xmlns:a="http://schemas.openxmlformats.org/drawingml/2006/main">
              <a:ext uri="{FF2B5EF4-FFF2-40B4-BE49-F238E27FC236}">
                <a16:creationId xmlns:a16="http://schemas.microsoft.com/office/drawing/2014/main" id="{BC80A6AF-3BC2-4C17-8354-33BF6A547FD8}"/>
              </a:ext>
            </a:extLst>
          </p:cNvPr>
          <p:cNvSpPr>
            <a:spLocks xmlns:a="http://schemas.openxmlformats.org/drawingml/2006/main" noGrp="1"/>
          </p:cNvSpPr>
          <p:nvPr/>
        </p:nvSpPr>
        <p:spPr>
          <a:xfrm xmlns:a="http://schemas.openxmlformats.org/drawingml/2006/main">
            <a:off x="666750" y="60007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lgn="l">
              <a:defRPr sz="1275" b="0">
                <a:solidFill>
                  <a:srgbClr val="DDE6F7"/>
                </a:solidFill>
                <a:latin typeface="DejaVu Sans"/>
                <a:ea typeface="DejaVu Sans"/>
                <a:cs typeface="DejaVu Sans"/>
              </a:defRPr>
            </a:pPr>
            <a:r>
              <a:rPr sz="1275" b="0">
                <a:solidFill>
                  <a:srgbClr val="DDE6F7"/>
                </a:solidFill>
                <a:latin typeface="DejaVu Sans"/>
                <a:ea typeface="DejaVu Sans"/>
                <a:cs typeface="DejaVu Sans"/>
              </a:rPr>
              <a:t>Balanced teams start with honest observations</a:t>
            </a:r>
          </a:p>
        </p:txBody>
      </p:sp>
    </p:spTree>
    <p:extLst>
      <p:ext uri="{BB962C8B-B14F-4D97-AF65-F5344CB8AC3E}">
        <p14:creationId xmlns:p14="http://schemas.microsoft.com/office/powerpoint/2010/main" val="16996294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A76560-DF68-47B5-83F7-C85B2CD4054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304D9-68BA-425F-AE04-4EE74F6D34D4}"/>
              </a:ext>
            </a:extLst>
          </p:cNvPr>
          <p:cNvSpPr>
            <a:spLocks xmlns:a="http://schemas.openxmlformats.org/drawingml/2006/main" noGrp="1"/>
          </p:cNvSpPr>
          <p:nvPr/>
        </p:nvSpPr>
        <p:spPr>
          <a:xfrm xmlns:a="http://schemas.openxmlformats.org/drawingml/2006/main">
            <a:off x="609600" y="285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E3232E"/>
                </a:solidFill>
                <a:latin typeface="DejaVu Sans"/>
                <a:ea typeface="DejaVu Sans"/>
                <a:cs typeface="DejaVu Sans"/>
              </a:defRPr>
            </a:pPr>
            <a:r>
              <a:rPr sz="1050" b="1">
                <a:solidFill>
                  <a:srgbClr val="E3232E"/>
                </a:solidFill>
                <a:latin typeface="DejaVu Sans"/>
                <a:ea typeface="DejaVu Sans"/>
                <a:cs typeface="DejaVu Sans"/>
              </a:rPr>
              <a:t>COACH EVALUATION</a:t>
            </a:r>
          </a:p>
        </p:txBody>
      </p:sp>
      <p:sp>
        <p:nvSpPr>
          <p:cNvPr id="3" name="">
            <a:extLst xmlns:a="http://schemas.openxmlformats.org/drawingml/2006/main">
              <a:ext uri="{FF2B5EF4-FFF2-40B4-BE49-F238E27FC236}">
                <a16:creationId xmlns:a16="http://schemas.microsoft.com/office/drawing/2014/main" id="{3FE8CF94-66DD-45AB-989F-F60EBF1C3F23}"/>
              </a:ext>
            </a:extLst>
          </p:cNvPr>
          <p:cNvSpPr>
            <a:spLocks xmlns:a="http://schemas.openxmlformats.org/drawingml/2006/main" noGrp="1"/>
          </p:cNvSpPr>
          <p:nvPr/>
        </p:nvSpPr>
        <p:spPr>
          <a:xfrm xmlns:a="http://schemas.openxmlformats.org/drawingml/2006/main">
            <a:off x="609600" y="590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E3265"/>
                </a:solidFill>
                <a:latin typeface="DejaVu Sans"/>
                <a:ea typeface="DejaVu Sans"/>
                <a:cs typeface="DejaVu Sans"/>
              </a:defRPr>
            </a:pPr>
            <a:r>
              <a:rPr sz="2550" b="1">
                <a:solidFill>
                  <a:srgbClr val="1E3265"/>
                </a:solidFill>
                <a:latin typeface="DejaVu Sans"/>
                <a:ea typeface="DejaVu Sans"/>
                <a:cs typeface="DejaVu Sans"/>
              </a:rPr>
              <a:t>Why player ratings matter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37aaf6a72146e8"/>
          <a:stretch xmlns:a="http://schemas.openxmlformats.org/drawingml/2006/main"/>
        </p:blipFill>
        <p:spPr>
          <a:xfrm xmlns:a="http://schemas.openxmlformats.org/drawingml/2006/main">
            <a:off x="10934700" y="2667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FEB89C-E32E-4CA0-A804-D63391513EBF}"/>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82C985-BE96-48BD-BB1B-C26D8B01EA5C}"/>
              </a:ext>
            </a:extLst>
          </p:cNvPr>
          <p:cNvSpPr>
            <a:spLocks xmlns:a="http://schemas.openxmlformats.org/drawingml/2006/main" noGrp="1"/>
          </p:cNvSpPr>
          <p:nvPr/>
        </p:nvSpPr>
        <p:spPr>
          <a:xfrm xmlns:a="http://schemas.openxmlformats.org/drawingml/2006/main">
            <a:off x="914400" y="1600200"/>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2250" b="1">
                <a:solidFill>
                  <a:srgbClr val="17233F"/>
                </a:solidFill>
                <a:latin typeface="DejaVu Sans"/>
                <a:ea typeface="DejaVu Sans"/>
                <a:cs typeface="DejaVu Sans"/>
              </a:defRPr>
            </a:pPr>
            <a:r>
              <a:rPr sz="2250" b="1">
                <a:solidFill>
                  <a:srgbClr val="17233F"/>
                </a:solidFill>
                <a:latin typeface="DejaVu Sans"/>
                <a:ea typeface="DejaVu Sans"/>
                <a:cs typeface="DejaVu Sans"/>
              </a:rPr>
              <a:t>Ratings help division leaders form teams with a more even mix of current ability.</a:t>
            </a:r>
          </a:p>
        </p:txBody>
      </p:sp>
      <p:sp>
        <p:nvSpPr>
          <p:cNvPr id="7" name="">
            <a:extLst xmlns:a="http://schemas.openxmlformats.org/drawingml/2006/main">
              <a:ext uri="{FF2B5EF4-FFF2-40B4-BE49-F238E27FC236}">
                <a16:creationId xmlns:a16="http://schemas.microsoft.com/office/drawing/2014/main" id="{D80F0D9D-45E4-4024-9840-A20B45654511}"/>
              </a:ext>
            </a:extLst>
          </p:cNvPr>
          <p:cNvSpPr>
            <a:spLocks xmlns:a="http://schemas.openxmlformats.org/drawingml/2006/main" noGrp="1"/>
          </p:cNvSpPr>
          <p:nvPr/>
        </p:nvSpPr>
        <p:spPr>
          <a:xfrm xmlns:a="http://schemas.openxmlformats.org/drawingml/2006/main">
            <a:off x="2000250" y="2857500"/>
            <a:ext cx="990600" cy="99060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8U+</a:t>
            </a:r>
          </a:p>
        </p:txBody>
      </p:sp>
      <p:sp>
        <p:nvSpPr>
          <p:cNvPr id="8" name="">
            <a:extLst xmlns:a="http://schemas.openxmlformats.org/drawingml/2006/main">
              <a:ext uri="{FF2B5EF4-FFF2-40B4-BE49-F238E27FC236}">
                <a16:creationId xmlns:a16="http://schemas.microsoft.com/office/drawing/2014/main" id="{33F917B8-8F9B-4FE1-BEC8-704CFCEC594D}"/>
              </a:ext>
            </a:extLst>
          </p:cNvPr>
          <p:cNvSpPr>
            <a:spLocks xmlns:a="http://schemas.openxmlformats.org/drawingml/2006/main" noGrp="1"/>
          </p:cNvSpPr>
          <p:nvPr/>
        </p:nvSpPr>
        <p:spPr>
          <a:xfrm xmlns:a="http://schemas.openxmlformats.org/drawingml/2006/main">
            <a:off x="895350" y="40767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a:solidFill>
                  <a:srgbClr val="17233F"/>
                </a:solidFill>
                <a:latin typeface="DejaVu Sans"/>
                <a:ea typeface="DejaVu Sans"/>
                <a:cs typeface="DejaVu Sans"/>
              </a:defRPr>
            </a:pPr>
            <a:r>
              <a:rPr sz="1425" b="1">
                <a:solidFill>
                  <a:srgbClr val="17233F"/>
                </a:solidFill>
                <a:latin typeface="DejaVu Sans"/>
                <a:ea typeface="DejaVu Sans"/>
                <a:cs typeface="DejaVu Sans"/>
              </a:rPr>
              <a:t>Coaches evaluate players in 8U and older divisions</a:t>
            </a:r>
          </a:p>
        </p:txBody>
      </p:sp>
      <p:sp>
        <p:nvSpPr>
          <p:cNvPr id="9" name="">
            <a:extLst xmlns:a="http://schemas.openxmlformats.org/drawingml/2006/main">
              <a:ext uri="{FF2B5EF4-FFF2-40B4-BE49-F238E27FC236}">
                <a16:creationId xmlns:a16="http://schemas.microsoft.com/office/drawing/2014/main" id="{AAC07017-3EF0-45BC-858B-ECACBB13B75D}"/>
              </a:ext>
            </a:extLst>
          </p:cNvPr>
          <p:cNvSpPr>
            <a:spLocks xmlns:a="http://schemas.openxmlformats.org/drawingml/2006/main" noGrp="1"/>
          </p:cNvSpPr>
          <p:nvPr/>
        </p:nvSpPr>
        <p:spPr>
          <a:xfrm xmlns:a="http://schemas.openxmlformats.org/drawingml/2006/main">
            <a:off x="5600700" y="2857500"/>
            <a:ext cx="990600" cy="990600"/>
          </a:xfrm>
          <a:prstGeom xmlns:a="http://schemas.openxmlformats.org/drawingml/2006/main" prst="ellipse">
            <a:avLst/>
          </a:prstGeom>
          <a:solidFill xmlns:a="http://schemas.openxmlformats.org/drawingml/2006/main">
            <a:srgbClr val="E3232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ALL</a:t>
            </a:r>
          </a:p>
        </p:txBody>
      </p:sp>
      <p:sp>
        <p:nvSpPr>
          <p:cNvPr id="10" name="">
            <a:extLst xmlns:a="http://schemas.openxmlformats.org/drawingml/2006/main">
              <a:ext uri="{FF2B5EF4-FFF2-40B4-BE49-F238E27FC236}">
                <a16:creationId xmlns:a16="http://schemas.microsoft.com/office/drawing/2014/main" id="{49D3CD6E-B7DE-4EA5-ABE8-11F3118E4B9E}"/>
              </a:ext>
            </a:extLst>
          </p:cNvPr>
          <p:cNvSpPr>
            <a:spLocks xmlns:a="http://schemas.openxmlformats.org/drawingml/2006/main" noGrp="1"/>
          </p:cNvSpPr>
          <p:nvPr/>
        </p:nvSpPr>
        <p:spPr>
          <a:xfrm xmlns:a="http://schemas.openxmlformats.org/drawingml/2006/main">
            <a:off x="4495800" y="40767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a:solidFill>
                  <a:srgbClr val="17233F"/>
                </a:solidFill>
                <a:latin typeface="DejaVu Sans"/>
                <a:ea typeface="DejaVu Sans"/>
                <a:cs typeface="DejaVu Sans"/>
              </a:defRPr>
            </a:pPr>
            <a:r>
              <a:rPr sz="1425" b="1">
                <a:solidFill>
                  <a:srgbClr val="17233F"/>
                </a:solidFill>
                <a:latin typeface="DejaVu Sans"/>
                <a:ea typeface="DejaVu Sans"/>
                <a:cs typeface="DejaVu Sans"/>
              </a:rPr>
              <a:t>Compare with the whole division, not only one roster</a:t>
            </a:r>
          </a:p>
        </p:txBody>
      </p:sp>
      <p:sp>
        <p:nvSpPr>
          <p:cNvPr id="11" name="">
            <a:extLst xmlns:a="http://schemas.openxmlformats.org/drawingml/2006/main">
              <a:ext uri="{FF2B5EF4-FFF2-40B4-BE49-F238E27FC236}">
                <a16:creationId xmlns:a16="http://schemas.microsoft.com/office/drawing/2014/main" id="{0A1D3016-4AFB-4E7D-9541-E05E75065B4B}"/>
              </a:ext>
            </a:extLst>
          </p:cNvPr>
          <p:cNvSpPr>
            <a:spLocks xmlns:a="http://schemas.openxmlformats.org/drawingml/2006/main" noGrp="1"/>
          </p:cNvSpPr>
          <p:nvPr/>
        </p:nvSpPr>
        <p:spPr>
          <a:xfrm xmlns:a="http://schemas.openxmlformats.org/drawingml/2006/main">
            <a:off x="9201150" y="2857500"/>
            <a:ext cx="990600" cy="99060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CONF.</a:t>
            </a:r>
          </a:p>
        </p:txBody>
      </p:sp>
      <p:sp>
        <p:nvSpPr>
          <p:cNvPr id="12" name="">
            <a:extLst xmlns:a="http://schemas.openxmlformats.org/drawingml/2006/main">
              <a:ext uri="{FF2B5EF4-FFF2-40B4-BE49-F238E27FC236}">
                <a16:creationId xmlns:a16="http://schemas.microsoft.com/office/drawing/2014/main" id="{28A42E80-2699-48BE-9592-94D8AFAD8357}"/>
              </a:ext>
            </a:extLst>
          </p:cNvPr>
          <p:cNvSpPr>
            <a:spLocks xmlns:a="http://schemas.openxmlformats.org/drawingml/2006/main" noGrp="1"/>
          </p:cNvSpPr>
          <p:nvPr/>
        </p:nvSpPr>
        <p:spPr>
          <a:xfrm xmlns:a="http://schemas.openxmlformats.org/drawingml/2006/main">
            <a:off x="8096250" y="40767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a:solidFill>
                  <a:srgbClr val="17233F"/>
                </a:solidFill>
                <a:latin typeface="DejaVu Sans"/>
                <a:ea typeface="DejaVu Sans"/>
                <a:cs typeface="DejaVu Sans"/>
              </a:defRPr>
            </a:pPr>
            <a:r>
              <a:rPr sz="1425" b="1">
                <a:solidFill>
                  <a:srgbClr val="17233F"/>
                </a:solidFill>
                <a:latin typeface="DejaVu Sans"/>
                <a:ea typeface="DejaVu Sans"/>
                <a:cs typeface="DejaVu Sans"/>
              </a:rPr>
              <a:t>Ratings stay confidential among coaches and division leadership</a:t>
            </a:r>
          </a:p>
        </p:txBody>
      </p:sp>
      <p:sp>
        <p:nvSpPr>
          <p:cNvPr id="13" name="">
            <a:extLst xmlns:a="http://schemas.openxmlformats.org/drawingml/2006/main">
              <a:ext uri="{FF2B5EF4-FFF2-40B4-BE49-F238E27FC236}">
                <a16:creationId xmlns:a16="http://schemas.microsoft.com/office/drawing/2014/main" id="{DFF40E20-88A5-45AA-8A68-8BA50B55C0C8}"/>
              </a:ext>
            </a:extLst>
          </p:cNvPr>
          <p:cNvSpPr>
            <a:spLocks xmlns:a="http://schemas.openxmlformats.org/drawingml/2006/main" noGrp="1"/>
          </p:cNvSpPr>
          <p:nvPr/>
        </p:nvSpPr>
        <p:spPr>
          <a:xfrm xmlns:a="http://schemas.openxmlformats.org/drawingml/2006/main">
            <a:off x="2457450" y="5391150"/>
            <a:ext cx="7277100" cy="609600"/>
          </a:xfrm>
          <a:prstGeom xmlns:a="http://schemas.openxmlformats.org/drawingml/2006/main" prst="roundRect">
            <a:avLst>
              <a:gd name="adj" fmla="val 28125"/>
            </a:avLst>
          </a:prstGeom>
          <a:solidFill xmlns:a="http://schemas.openxmlformats.org/drawingml/2006/main">
            <a:srgbClr val="E7ED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103E7F0-C82B-433D-BB28-3A69B9392991}"/>
              </a:ext>
            </a:extLst>
          </p:cNvPr>
          <p:cNvSpPr>
            <a:spLocks xmlns:a="http://schemas.openxmlformats.org/drawingml/2006/main" noGrp="1"/>
          </p:cNvSpPr>
          <p:nvPr/>
        </p:nvSpPr>
        <p:spPr>
          <a:xfrm xmlns:a="http://schemas.openxmlformats.org/drawingml/2006/main">
            <a:off x="2686050" y="5534025"/>
            <a:ext cx="681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37"/>
          </a:bodyPr>
          <a:lstStyle xmlns:a="http://schemas.openxmlformats.org/drawingml/2006/main"/>
          <a:p xmlns:a="http://schemas.openxmlformats.org/drawingml/2006/main">
            <a:pPr algn="ctr">
              <a:defRPr sz="1725" b="1">
                <a:solidFill>
                  <a:srgbClr val="1E3265"/>
                </a:solidFill>
                <a:latin typeface="DejaVu Sans"/>
                <a:ea typeface="DejaVu Sans"/>
                <a:cs typeface="DejaVu Sans"/>
              </a:defRPr>
            </a:pPr>
            <a:r>
              <a:rPr sz="1725" b="1">
                <a:solidFill>
                  <a:srgbClr val="1E3265"/>
                </a:solidFill>
                <a:latin typeface="DejaVu Sans"/>
                <a:ea typeface="DejaVu Sans"/>
                <a:cs typeface="DejaVu Sans"/>
              </a:rPr>
              <a:t>A rating describes current play. It does not define a child.</a:t>
            </a:r>
          </a:p>
        </p:txBody>
      </p:sp>
      <p:sp>
        <p:nvSpPr>
          <p:cNvPr id="15" name="">
            <a:extLst xmlns:a="http://schemas.openxmlformats.org/drawingml/2006/main">
              <a:ext uri="{FF2B5EF4-FFF2-40B4-BE49-F238E27FC236}">
                <a16:creationId xmlns:a16="http://schemas.microsoft.com/office/drawing/2014/main" id="{2C174962-18E0-43D3-871D-FB880C4E0B6D}"/>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56637A"/>
                </a:solidFill>
                <a:latin typeface="DejaVu Sans"/>
                <a:ea typeface="DejaVu Sans"/>
                <a:cs typeface="DejaVu Sans"/>
              </a:defRPr>
            </a:pPr>
            <a:r>
              <a:rPr sz="825" b="0">
                <a:solidFill>
                  <a:srgbClr val="56637A"/>
                </a:solidFill>
                <a:latin typeface="DejaVu Sans"/>
                <a:ea typeface="DejaVu Sans"/>
                <a:cs typeface="DejaVu Sans"/>
              </a:rPr>
              <a:t>Cypress AYSO Region 154  |  2</a:t>
            </a:r>
          </a:p>
        </p:txBody>
      </p:sp>
    </p:spTree>
    <p:extLst>
      <p:ext uri="{BB962C8B-B14F-4D97-AF65-F5344CB8AC3E}">
        <p14:creationId xmlns:p14="http://schemas.microsoft.com/office/powerpoint/2010/main" val="459297679"/>
      </p:ext>
    </p:extLst>
  </p:cSld>
</p:sld>
</file>

<file path=ppt/slides/slide3.xml><?xml version="1.0" encoding="utf-8"?>
<p:sld xmlns:p="http://schemas.openxmlformats.org/presentationml/2006/main">
  <p:cSld>
    <p:bg>
      <p:bgPr>
        <a:solidFill xmlns:a="http://schemas.openxmlformats.org/drawingml/2006/main">
          <a:srgbClr val="F2F5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B9369C1-76CF-4ABB-B1C5-6D58E8E021E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5BBEC6-3F77-4333-A0A3-6B51E50CA286}"/>
              </a:ext>
            </a:extLst>
          </p:cNvPr>
          <p:cNvSpPr>
            <a:spLocks xmlns:a="http://schemas.openxmlformats.org/drawingml/2006/main" noGrp="1"/>
          </p:cNvSpPr>
          <p:nvPr/>
        </p:nvSpPr>
        <p:spPr>
          <a:xfrm xmlns:a="http://schemas.openxmlformats.org/drawingml/2006/main">
            <a:off x="609600" y="285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E3232E"/>
                </a:solidFill>
                <a:latin typeface="DejaVu Sans"/>
                <a:ea typeface="DejaVu Sans"/>
                <a:cs typeface="DejaVu Sans"/>
              </a:defRPr>
            </a:pPr>
            <a:r>
              <a:rPr sz="1050" b="1">
                <a:solidFill>
                  <a:srgbClr val="E3232E"/>
                </a:solidFill>
                <a:latin typeface="DejaVu Sans"/>
                <a:ea typeface="DejaVu Sans"/>
                <a:cs typeface="DejaVu Sans"/>
              </a:rPr>
              <a:t>COACH EVALUATION</a:t>
            </a:r>
          </a:p>
        </p:txBody>
      </p:sp>
      <p:sp>
        <p:nvSpPr>
          <p:cNvPr id="3" name="">
            <a:extLst xmlns:a="http://schemas.openxmlformats.org/drawingml/2006/main">
              <a:ext uri="{FF2B5EF4-FFF2-40B4-BE49-F238E27FC236}">
                <a16:creationId xmlns:a16="http://schemas.microsoft.com/office/drawing/2014/main" id="{F2F9F1DA-BC85-406E-A249-4EAC82E64BE5}"/>
              </a:ext>
            </a:extLst>
          </p:cNvPr>
          <p:cNvSpPr>
            <a:spLocks xmlns:a="http://schemas.openxmlformats.org/drawingml/2006/main" noGrp="1"/>
          </p:cNvSpPr>
          <p:nvPr/>
        </p:nvSpPr>
        <p:spPr>
          <a:xfrm xmlns:a="http://schemas.openxmlformats.org/drawingml/2006/main">
            <a:off x="609600" y="590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E3265"/>
                </a:solidFill>
                <a:latin typeface="DejaVu Sans"/>
                <a:ea typeface="DejaVu Sans"/>
                <a:cs typeface="DejaVu Sans"/>
              </a:defRPr>
            </a:pPr>
            <a:r>
              <a:rPr sz="2550" b="1">
                <a:solidFill>
                  <a:srgbClr val="1E3265"/>
                </a:solidFill>
                <a:latin typeface="DejaVu Sans"/>
                <a:ea typeface="DejaVu Sans"/>
                <a:cs typeface="DejaVu Sans"/>
              </a:rPr>
              <a:t>A fair evaluation uses several game moments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7b39c4a300540f4"/>
          <a:stretch xmlns:a="http://schemas.openxmlformats.org/drawingml/2006/main"/>
        </p:blipFill>
        <p:spPr>
          <a:xfrm xmlns:a="http://schemas.openxmlformats.org/drawingml/2006/main">
            <a:off x="10934700" y="2667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E7049F-138B-47DF-B33A-F0F61ABF48D3}"/>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0D0EF0-59DE-4397-BA33-D9C1C25F326E}"/>
              </a:ext>
            </a:extLst>
          </p:cNvPr>
          <p:cNvSpPr>
            <a:spLocks xmlns:a="http://schemas.openxmlformats.org/drawingml/2006/main" noGrp="1"/>
          </p:cNvSpPr>
          <p:nvPr/>
        </p:nvSpPr>
        <p:spPr>
          <a:xfrm xmlns:a="http://schemas.openxmlformats.org/drawingml/2006/main">
            <a:off x="1485900" y="167640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700" b="1">
                <a:solidFill>
                  <a:srgbClr val="1E3265"/>
                </a:solidFill>
                <a:latin typeface="DejaVu Sans"/>
                <a:ea typeface="DejaVu Sans"/>
                <a:cs typeface="DejaVu Sans"/>
              </a:defRPr>
            </a:pPr>
            <a:r>
              <a:rPr sz="2700" b="1">
                <a:solidFill>
                  <a:srgbClr val="1E3265"/>
                </a:solidFill>
                <a:latin typeface="DejaVu Sans"/>
                <a:ea typeface="DejaVu Sans"/>
                <a:cs typeface="DejaVu Sans"/>
              </a:rPr>
              <a:t>Observe patterns, not highlights</a:t>
            </a:r>
          </a:p>
        </p:txBody>
      </p:sp>
      <p:sp>
        <p:nvSpPr>
          <p:cNvPr id="7" name="">
            <a:extLst xmlns:a="http://schemas.openxmlformats.org/drawingml/2006/main">
              <a:ext uri="{FF2B5EF4-FFF2-40B4-BE49-F238E27FC236}">
                <a16:creationId xmlns:a16="http://schemas.microsoft.com/office/drawing/2014/main" id="{4364D9F1-2F77-4326-924C-7C4A7F97EE91}"/>
              </a:ext>
            </a:extLst>
          </p:cNvPr>
          <p:cNvSpPr>
            <a:spLocks xmlns:a="http://schemas.openxmlformats.org/drawingml/2006/main" noGrp="1"/>
          </p:cNvSpPr>
          <p:nvPr/>
        </p:nvSpPr>
        <p:spPr>
          <a:xfrm xmlns:a="http://schemas.openxmlformats.org/drawingml/2006/main">
            <a:off x="1352550" y="2628900"/>
            <a:ext cx="514350" cy="5143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BDAC3170-D2EB-4B38-B725-47C3FC8976CE}"/>
              </a:ext>
            </a:extLst>
          </p:cNvPr>
          <p:cNvSpPr>
            <a:spLocks xmlns:a="http://schemas.openxmlformats.org/drawingml/2006/main" noGrp="1"/>
          </p:cNvSpPr>
          <p:nvPr/>
        </p:nvSpPr>
        <p:spPr>
          <a:xfrm xmlns:a="http://schemas.openxmlformats.org/drawingml/2006/main">
            <a:off x="2133600" y="26098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Several games</a:t>
            </a:r>
          </a:p>
        </p:txBody>
      </p:sp>
      <p:sp>
        <p:nvSpPr>
          <p:cNvPr id="9" name="">
            <a:extLst xmlns:a="http://schemas.openxmlformats.org/drawingml/2006/main">
              <a:ext uri="{FF2B5EF4-FFF2-40B4-BE49-F238E27FC236}">
                <a16:creationId xmlns:a16="http://schemas.microsoft.com/office/drawing/2014/main" id="{DAB15F97-2FC2-4716-B5ED-8A0D6CE37306}"/>
              </a:ext>
            </a:extLst>
          </p:cNvPr>
          <p:cNvSpPr>
            <a:spLocks xmlns:a="http://schemas.openxmlformats.org/drawingml/2006/main" noGrp="1"/>
          </p:cNvSpPr>
          <p:nvPr/>
        </p:nvSpPr>
        <p:spPr>
          <a:xfrm xmlns:a="http://schemas.openxmlformats.org/drawingml/2006/main">
            <a:off x="4953000" y="2609850"/>
            <a:ext cx="581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One great play or one mistake can mislead.</a:t>
            </a:r>
          </a:p>
        </p:txBody>
      </p:sp>
      <p:sp>
        <p:nvSpPr>
          <p:cNvPr id="10" name="">
            <a:extLst xmlns:a="http://schemas.openxmlformats.org/drawingml/2006/main">
              <a:ext uri="{FF2B5EF4-FFF2-40B4-BE49-F238E27FC236}">
                <a16:creationId xmlns:a16="http://schemas.microsoft.com/office/drawing/2014/main" id="{7F84C4F4-8FB6-49F9-95F9-7C780F28354D}"/>
              </a:ext>
            </a:extLst>
          </p:cNvPr>
          <p:cNvSpPr>
            <a:spLocks xmlns:a="http://schemas.openxmlformats.org/drawingml/2006/main" noGrp="1"/>
          </p:cNvSpPr>
          <p:nvPr/>
        </p:nvSpPr>
        <p:spPr>
          <a:xfrm xmlns:a="http://schemas.openxmlformats.org/drawingml/2006/main">
            <a:off x="1352550" y="3448050"/>
            <a:ext cx="514350" cy="5143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94D792BB-003F-4020-BABE-292320E21D07}"/>
              </a:ext>
            </a:extLst>
          </p:cNvPr>
          <p:cNvSpPr>
            <a:spLocks xmlns:a="http://schemas.openxmlformats.org/drawingml/2006/main" noGrp="1"/>
          </p:cNvSpPr>
          <p:nvPr/>
        </p:nvSpPr>
        <p:spPr>
          <a:xfrm xmlns:a="http://schemas.openxmlformats.org/drawingml/2006/main">
            <a:off x="2133600" y="34290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Different situations</a:t>
            </a:r>
          </a:p>
        </p:txBody>
      </p:sp>
      <p:sp>
        <p:nvSpPr>
          <p:cNvPr id="12" name="">
            <a:extLst xmlns:a="http://schemas.openxmlformats.org/drawingml/2006/main">
              <a:ext uri="{FF2B5EF4-FFF2-40B4-BE49-F238E27FC236}">
                <a16:creationId xmlns:a16="http://schemas.microsoft.com/office/drawing/2014/main" id="{E4982FBD-0ED6-4842-A7A8-C416424F61AA}"/>
              </a:ext>
            </a:extLst>
          </p:cNvPr>
          <p:cNvSpPr>
            <a:spLocks xmlns:a="http://schemas.openxmlformats.org/drawingml/2006/main" noGrp="1"/>
          </p:cNvSpPr>
          <p:nvPr/>
        </p:nvSpPr>
        <p:spPr>
          <a:xfrm xmlns:a="http://schemas.openxmlformats.org/drawingml/2006/main">
            <a:off x="4953000" y="3429000"/>
            <a:ext cx="581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Consider opponents, positions, and available opportunities.</a:t>
            </a:r>
          </a:p>
        </p:txBody>
      </p:sp>
      <p:sp>
        <p:nvSpPr>
          <p:cNvPr id="13" name="">
            <a:extLst xmlns:a="http://schemas.openxmlformats.org/drawingml/2006/main">
              <a:ext uri="{FF2B5EF4-FFF2-40B4-BE49-F238E27FC236}">
                <a16:creationId xmlns:a16="http://schemas.microsoft.com/office/drawing/2014/main" id="{640B29F8-FB38-46F4-B7CC-E4A9A56B0218}"/>
              </a:ext>
            </a:extLst>
          </p:cNvPr>
          <p:cNvSpPr>
            <a:spLocks xmlns:a="http://schemas.openxmlformats.org/drawingml/2006/main" noGrp="1"/>
          </p:cNvSpPr>
          <p:nvPr/>
        </p:nvSpPr>
        <p:spPr>
          <a:xfrm xmlns:a="http://schemas.openxmlformats.org/drawingml/2006/main">
            <a:off x="1352550" y="4267200"/>
            <a:ext cx="514350" cy="514350"/>
          </a:xfrm>
          <a:prstGeom xmlns:a="http://schemas.openxmlformats.org/drawingml/2006/main" prst="ellipse">
            <a:avLst/>
          </a:prstGeom>
          <a:solidFill xmlns:a="http://schemas.openxmlformats.org/drawingml/2006/main">
            <a:srgbClr val="E3232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15EF2E63-2945-484A-881B-2799342E0C7F}"/>
              </a:ext>
            </a:extLst>
          </p:cNvPr>
          <p:cNvSpPr>
            <a:spLocks xmlns:a="http://schemas.openxmlformats.org/drawingml/2006/main" noGrp="1"/>
          </p:cNvSpPr>
          <p:nvPr/>
        </p:nvSpPr>
        <p:spPr>
          <a:xfrm xmlns:a="http://schemas.openxmlformats.org/drawingml/2006/main">
            <a:off x="2133600" y="42481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The whole division</a:t>
            </a:r>
          </a:p>
        </p:txBody>
      </p:sp>
      <p:sp>
        <p:nvSpPr>
          <p:cNvPr id="15" name="">
            <a:extLst xmlns:a="http://schemas.openxmlformats.org/drawingml/2006/main">
              <a:ext uri="{FF2B5EF4-FFF2-40B4-BE49-F238E27FC236}">
                <a16:creationId xmlns:a16="http://schemas.microsoft.com/office/drawing/2014/main" id="{3175750D-E344-4744-829D-3879099D0528}"/>
              </a:ext>
            </a:extLst>
          </p:cNvPr>
          <p:cNvSpPr>
            <a:spLocks xmlns:a="http://schemas.openxmlformats.org/drawingml/2006/main" noGrp="1"/>
          </p:cNvSpPr>
          <p:nvPr/>
        </p:nvSpPr>
        <p:spPr>
          <a:xfrm xmlns:a="http://schemas.openxmlformats.org/drawingml/2006/main">
            <a:off x="4953000" y="4248150"/>
            <a:ext cx="581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Use peers across the division as the comparison group.</a:t>
            </a:r>
          </a:p>
        </p:txBody>
      </p:sp>
      <p:sp>
        <p:nvSpPr>
          <p:cNvPr id="16" name="">
            <a:extLst xmlns:a="http://schemas.openxmlformats.org/drawingml/2006/main">
              <a:ext uri="{FF2B5EF4-FFF2-40B4-BE49-F238E27FC236}">
                <a16:creationId xmlns:a16="http://schemas.microsoft.com/office/drawing/2014/main" id="{025A24F6-EBDF-40A0-8712-AC983D6608AB}"/>
              </a:ext>
            </a:extLst>
          </p:cNvPr>
          <p:cNvSpPr>
            <a:spLocks xmlns:a="http://schemas.openxmlformats.org/drawingml/2006/main" noGrp="1"/>
          </p:cNvSpPr>
          <p:nvPr/>
        </p:nvSpPr>
        <p:spPr>
          <a:xfrm xmlns:a="http://schemas.openxmlformats.org/drawingml/2006/main">
            <a:off x="1352550" y="5086350"/>
            <a:ext cx="514350" cy="5143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4</a:t>
            </a:r>
          </a:p>
        </p:txBody>
      </p:sp>
      <p:sp>
        <p:nvSpPr>
          <p:cNvPr id="17" name="">
            <a:extLst xmlns:a="http://schemas.openxmlformats.org/drawingml/2006/main">
              <a:ext uri="{FF2B5EF4-FFF2-40B4-BE49-F238E27FC236}">
                <a16:creationId xmlns:a16="http://schemas.microsoft.com/office/drawing/2014/main" id="{D1775F64-2920-4025-8533-66C69AAA983A}"/>
              </a:ext>
            </a:extLst>
          </p:cNvPr>
          <p:cNvSpPr>
            <a:spLocks xmlns:a="http://schemas.openxmlformats.org/drawingml/2006/main" noGrp="1"/>
          </p:cNvSpPr>
          <p:nvPr/>
        </p:nvSpPr>
        <p:spPr>
          <a:xfrm xmlns:a="http://schemas.openxmlformats.org/drawingml/2006/main">
            <a:off x="2133600" y="50673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Repeatable actions</a:t>
            </a:r>
          </a:p>
        </p:txBody>
      </p:sp>
      <p:sp>
        <p:nvSpPr>
          <p:cNvPr id="18" name="">
            <a:extLst xmlns:a="http://schemas.openxmlformats.org/drawingml/2006/main">
              <a:ext uri="{FF2B5EF4-FFF2-40B4-BE49-F238E27FC236}">
                <a16:creationId xmlns:a16="http://schemas.microsoft.com/office/drawing/2014/main" id="{E4709A96-EE4C-4160-BB54-07F211740906}"/>
              </a:ext>
            </a:extLst>
          </p:cNvPr>
          <p:cNvSpPr>
            <a:spLocks xmlns:a="http://schemas.openxmlformats.org/drawingml/2006/main" noGrp="1"/>
          </p:cNvSpPr>
          <p:nvPr/>
        </p:nvSpPr>
        <p:spPr>
          <a:xfrm xmlns:a="http://schemas.openxmlformats.org/drawingml/2006/main">
            <a:off x="4953000" y="5067300"/>
            <a:ext cx="581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Rate what the player does more than once.</a:t>
            </a:r>
          </a:p>
        </p:txBody>
      </p:sp>
      <p:sp>
        <p:nvSpPr>
          <p:cNvPr id="19" name="">
            <a:extLst xmlns:a="http://schemas.openxmlformats.org/drawingml/2006/main">
              <a:ext uri="{FF2B5EF4-FFF2-40B4-BE49-F238E27FC236}">
                <a16:creationId xmlns:a16="http://schemas.microsoft.com/office/drawing/2014/main" id="{4C435D2E-4039-4049-8C5A-99AE97E633BC}"/>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56637A"/>
                </a:solidFill>
                <a:latin typeface="DejaVu Sans"/>
                <a:ea typeface="DejaVu Sans"/>
                <a:cs typeface="DejaVu Sans"/>
              </a:defRPr>
            </a:pPr>
            <a:r>
              <a:rPr sz="825" b="0">
                <a:solidFill>
                  <a:srgbClr val="56637A"/>
                </a:solidFill>
                <a:latin typeface="DejaVu Sans"/>
                <a:ea typeface="DejaVu Sans"/>
                <a:cs typeface="DejaVu Sans"/>
              </a:rPr>
              <a:t>Cypress AYSO Region 154  |  3</a:t>
            </a:r>
          </a:p>
        </p:txBody>
      </p:sp>
    </p:spTree>
    <p:extLst>
      <p:ext uri="{BB962C8B-B14F-4D97-AF65-F5344CB8AC3E}">
        <p14:creationId xmlns:p14="http://schemas.microsoft.com/office/powerpoint/2010/main" val="20927055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5D6BEC4-2B49-469C-B914-B4B03AA8312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7FDA49-82C4-407E-9EDE-2415C7AEE349}"/>
              </a:ext>
            </a:extLst>
          </p:cNvPr>
          <p:cNvSpPr>
            <a:spLocks xmlns:a="http://schemas.openxmlformats.org/drawingml/2006/main" noGrp="1"/>
          </p:cNvSpPr>
          <p:nvPr/>
        </p:nvSpPr>
        <p:spPr>
          <a:xfrm xmlns:a="http://schemas.openxmlformats.org/drawingml/2006/main">
            <a:off x="609600" y="285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E3232E"/>
                </a:solidFill>
                <a:latin typeface="DejaVu Sans"/>
                <a:ea typeface="DejaVu Sans"/>
                <a:cs typeface="DejaVu Sans"/>
              </a:defRPr>
            </a:pPr>
            <a:r>
              <a:rPr sz="1050" b="1">
                <a:solidFill>
                  <a:srgbClr val="E3232E"/>
                </a:solidFill>
                <a:latin typeface="DejaVu Sans"/>
                <a:ea typeface="DejaVu Sans"/>
                <a:cs typeface="DejaVu Sans"/>
              </a:rPr>
              <a:t>COACH EVALUATION</a:t>
            </a:r>
          </a:p>
        </p:txBody>
      </p:sp>
      <p:sp>
        <p:nvSpPr>
          <p:cNvPr id="3" name="">
            <a:extLst xmlns:a="http://schemas.openxmlformats.org/drawingml/2006/main">
              <a:ext uri="{FF2B5EF4-FFF2-40B4-BE49-F238E27FC236}">
                <a16:creationId xmlns:a16="http://schemas.microsoft.com/office/drawing/2014/main" id="{06E14E75-96BF-4001-902B-D73439D05C64}"/>
              </a:ext>
            </a:extLst>
          </p:cNvPr>
          <p:cNvSpPr>
            <a:spLocks xmlns:a="http://schemas.openxmlformats.org/drawingml/2006/main" noGrp="1"/>
          </p:cNvSpPr>
          <p:nvPr/>
        </p:nvSpPr>
        <p:spPr>
          <a:xfrm xmlns:a="http://schemas.openxmlformats.org/drawingml/2006/main">
            <a:off x="609600" y="590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E3265"/>
                </a:solidFill>
                <a:latin typeface="DejaVu Sans"/>
                <a:ea typeface="DejaVu Sans"/>
                <a:cs typeface="DejaVu Sans"/>
              </a:defRPr>
            </a:pPr>
            <a:r>
              <a:rPr sz="2550" b="1">
                <a:solidFill>
                  <a:srgbClr val="1E3265"/>
                </a:solidFill>
                <a:latin typeface="DejaVu Sans"/>
                <a:ea typeface="DejaVu Sans"/>
                <a:cs typeface="DejaVu Sans"/>
              </a:rPr>
              <a:t>Three common rating traps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24bbaa7122d43f9"/>
          <a:stretch xmlns:a="http://schemas.openxmlformats.org/drawingml/2006/main"/>
        </p:blipFill>
        <p:spPr>
          <a:xfrm xmlns:a="http://schemas.openxmlformats.org/drawingml/2006/main">
            <a:off x="10934700" y="2667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F46093-2361-42B4-89C5-5B9BDBE7C795}"/>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B29ABF-542A-4F7A-ABA6-E96B2A875E8D}"/>
              </a:ext>
            </a:extLst>
          </p:cNvPr>
          <p:cNvSpPr>
            <a:spLocks xmlns:a="http://schemas.openxmlformats.org/drawingml/2006/main" noGrp="1"/>
          </p:cNvSpPr>
          <p:nvPr/>
        </p:nvSpPr>
        <p:spPr>
          <a:xfrm xmlns:a="http://schemas.openxmlformats.org/drawingml/2006/main">
            <a:off x="666750" y="1771650"/>
            <a:ext cx="3429000" cy="3752850"/>
          </a:xfrm>
          <a:prstGeom xmlns:a="http://schemas.openxmlformats.org/drawingml/2006/main" prst="roundRect">
            <a:avLst>
              <a:gd name="adj" fmla="val 6667"/>
            </a:avLst>
          </a:prstGeom>
          <a:solidFill xmlns:a="http://schemas.openxmlformats.org/drawingml/2006/main">
            <a:srgbClr val="E7ED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4AE0F2-C248-4D97-9ECD-ECC305A639B4}"/>
              </a:ext>
            </a:extLst>
          </p:cNvPr>
          <p:cNvSpPr>
            <a:spLocks xmlns:a="http://schemas.openxmlformats.org/drawingml/2006/main" noGrp="1"/>
          </p:cNvSpPr>
          <p:nvPr/>
        </p:nvSpPr>
        <p:spPr>
          <a:xfrm xmlns:a="http://schemas.openxmlformats.org/drawingml/2006/main">
            <a:off x="1924050" y="2076450"/>
            <a:ext cx="914400" cy="91440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983CD538-6DF1-4B92-8B0C-0C251FF91F88}"/>
              </a:ext>
            </a:extLst>
          </p:cNvPr>
          <p:cNvSpPr>
            <a:spLocks xmlns:a="http://schemas.openxmlformats.org/drawingml/2006/main" noGrp="1"/>
          </p:cNvSpPr>
          <p:nvPr/>
        </p:nvSpPr>
        <p:spPr>
          <a:xfrm xmlns:a="http://schemas.openxmlformats.org/drawingml/2006/main">
            <a:off x="952500" y="32766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17233F"/>
                </a:solidFill>
                <a:latin typeface="DejaVu Sans"/>
                <a:ea typeface="DejaVu Sans"/>
                <a:cs typeface="DejaVu Sans"/>
              </a:defRPr>
            </a:pPr>
            <a:r>
              <a:rPr sz="1800" b="1">
                <a:solidFill>
                  <a:srgbClr val="17233F"/>
                </a:solidFill>
                <a:latin typeface="DejaVu Sans"/>
                <a:ea typeface="DejaVu Sans"/>
                <a:cs typeface="DejaVu Sans"/>
              </a:rPr>
              <a:t>The “great kid” bias</a:t>
            </a:r>
          </a:p>
        </p:txBody>
      </p:sp>
      <p:sp>
        <p:nvSpPr>
          <p:cNvPr id="9" name="">
            <a:extLst xmlns:a="http://schemas.openxmlformats.org/drawingml/2006/main">
              <a:ext uri="{FF2B5EF4-FFF2-40B4-BE49-F238E27FC236}">
                <a16:creationId xmlns:a16="http://schemas.microsoft.com/office/drawing/2014/main" id="{A0E2441F-5A75-408C-9862-F6AC150A706A}"/>
              </a:ext>
            </a:extLst>
          </p:cNvPr>
          <p:cNvSpPr>
            <a:spLocks xmlns:a="http://schemas.openxmlformats.org/drawingml/2006/main" noGrp="1"/>
          </p:cNvSpPr>
          <p:nvPr/>
        </p:nvSpPr>
        <p:spPr>
          <a:xfrm xmlns:a="http://schemas.openxmlformats.org/drawingml/2006/main">
            <a:off x="1028700" y="4171950"/>
            <a:ext cx="2705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Effort and coachability matter. Keep the soccer rating tied to soccer actions.</a:t>
            </a:r>
          </a:p>
        </p:txBody>
      </p:sp>
      <p:sp>
        <p:nvSpPr>
          <p:cNvPr id="10" name="">
            <a:extLst xmlns:a="http://schemas.openxmlformats.org/drawingml/2006/main">
              <a:ext uri="{FF2B5EF4-FFF2-40B4-BE49-F238E27FC236}">
                <a16:creationId xmlns:a16="http://schemas.microsoft.com/office/drawing/2014/main" id="{3CF7CCE3-FFFD-460A-BD20-81B4439FFD53}"/>
              </a:ext>
            </a:extLst>
          </p:cNvPr>
          <p:cNvSpPr>
            <a:spLocks xmlns:a="http://schemas.openxmlformats.org/drawingml/2006/main" noGrp="1"/>
          </p:cNvSpPr>
          <p:nvPr/>
        </p:nvSpPr>
        <p:spPr>
          <a:xfrm xmlns:a="http://schemas.openxmlformats.org/drawingml/2006/main">
            <a:off x="4524375" y="1771650"/>
            <a:ext cx="3429000" cy="3752850"/>
          </a:xfrm>
          <a:prstGeom xmlns:a="http://schemas.openxmlformats.org/drawingml/2006/main" prst="roundRect">
            <a:avLst>
              <a:gd name="adj" fmla="val 6667"/>
            </a:avLst>
          </a:prstGeom>
          <a:solidFill xmlns:a="http://schemas.openxmlformats.org/drawingml/2006/main">
            <a:srgbClr val="FDEBE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5484FC-A396-437B-9C2D-EB410BA6C62B}"/>
              </a:ext>
            </a:extLst>
          </p:cNvPr>
          <p:cNvSpPr>
            <a:spLocks xmlns:a="http://schemas.openxmlformats.org/drawingml/2006/main" noGrp="1"/>
          </p:cNvSpPr>
          <p:nvPr/>
        </p:nvSpPr>
        <p:spPr>
          <a:xfrm xmlns:a="http://schemas.openxmlformats.org/drawingml/2006/main">
            <a:off x="5781675" y="2076450"/>
            <a:ext cx="914400" cy="914400"/>
          </a:xfrm>
          <a:prstGeom xmlns:a="http://schemas.openxmlformats.org/drawingml/2006/main" prst="ellipse">
            <a:avLst/>
          </a:prstGeom>
          <a:solidFill xmlns:a="http://schemas.openxmlformats.org/drawingml/2006/main">
            <a:srgbClr val="E3232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414C1ABC-1CC6-46AC-B748-5E5EB39E5AF4}"/>
              </a:ext>
            </a:extLst>
          </p:cNvPr>
          <p:cNvSpPr>
            <a:spLocks xmlns:a="http://schemas.openxmlformats.org/drawingml/2006/main" noGrp="1"/>
          </p:cNvSpPr>
          <p:nvPr/>
        </p:nvSpPr>
        <p:spPr>
          <a:xfrm xmlns:a="http://schemas.openxmlformats.org/drawingml/2006/main">
            <a:off x="4810125" y="32766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lgn="ctr">
              <a:defRPr sz="1800" b="1">
                <a:solidFill>
                  <a:srgbClr val="17233F"/>
                </a:solidFill>
                <a:latin typeface="DejaVu Sans"/>
                <a:ea typeface="DejaVu Sans"/>
                <a:cs typeface="DejaVu Sans"/>
              </a:defRPr>
            </a:pPr>
            <a:r>
              <a:rPr sz="1800" b="1">
                <a:solidFill>
                  <a:srgbClr val="17233F"/>
                </a:solidFill>
                <a:latin typeface="DejaVu Sans"/>
                <a:ea typeface="DejaVu Sans"/>
                <a:cs typeface="DejaVu Sans"/>
              </a:rPr>
              <a:t>Scores clustered too high</a:t>
            </a:r>
          </a:p>
        </p:txBody>
      </p:sp>
      <p:sp>
        <p:nvSpPr>
          <p:cNvPr id="13" name="">
            <a:extLst xmlns:a="http://schemas.openxmlformats.org/drawingml/2006/main">
              <a:ext uri="{FF2B5EF4-FFF2-40B4-BE49-F238E27FC236}">
                <a16:creationId xmlns:a16="http://schemas.microsoft.com/office/drawing/2014/main" id="{EFC86931-9987-4109-8A25-08EE512A4A1F}"/>
              </a:ext>
            </a:extLst>
          </p:cNvPr>
          <p:cNvSpPr>
            <a:spLocks xmlns:a="http://schemas.openxmlformats.org/drawingml/2006/main" noGrp="1"/>
          </p:cNvSpPr>
          <p:nvPr/>
        </p:nvSpPr>
        <p:spPr>
          <a:xfrm xmlns:a="http://schemas.openxmlformats.org/drawingml/2006/main">
            <a:off x="4886325" y="4171950"/>
            <a:ext cx="2705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Use the full scale. A 3 represents a solid division player.</a:t>
            </a:r>
          </a:p>
        </p:txBody>
      </p:sp>
      <p:sp>
        <p:nvSpPr>
          <p:cNvPr id="14" name="">
            <a:extLst xmlns:a="http://schemas.openxmlformats.org/drawingml/2006/main">
              <a:ext uri="{FF2B5EF4-FFF2-40B4-BE49-F238E27FC236}">
                <a16:creationId xmlns:a16="http://schemas.microsoft.com/office/drawing/2014/main" id="{413AB706-CA7E-4F1F-9312-212B6597185A}"/>
              </a:ext>
            </a:extLst>
          </p:cNvPr>
          <p:cNvSpPr>
            <a:spLocks xmlns:a="http://schemas.openxmlformats.org/drawingml/2006/main" noGrp="1"/>
          </p:cNvSpPr>
          <p:nvPr/>
        </p:nvSpPr>
        <p:spPr>
          <a:xfrm xmlns:a="http://schemas.openxmlformats.org/drawingml/2006/main">
            <a:off x="8382000" y="1771650"/>
            <a:ext cx="3429000" cy="3752850"/>
          </a:xfrm>
          <a:prstGeom xmlns:a="http://schemas.openxmlformats.org/drawingml/2006/main" prst="roundRect">
            <a:avLst>
              <a:gd name="adj" fmla="val 6667"/>
            </a:avLst>
          </a:prstGeom>
          <a:solidFill xmlns:a="http://schemas.openxmlformats.org/drawingml/2006/main">
            <a:srgbClr val="E7ED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CFC3B0-76BD-4646-A0AE-ACA57DF2C4E6}"/>
              </a:ext>
            </a:extLst>
          </p:cNvPr>
          <p:cNvSpPr>
            <a:spLocks xmlns:a="http://schemas.openxmlformats.org/drawingml/2006/main" noGrp="1"/>
          </p:cNvSpPr>
          <p:nvPr/>
        </p:nvSpPr>
        <p:spPr>
          <a:xfrm xmlns:a="http://schemas.openxmlformats.org/drawingml/2006/main">
            <a:off x="9639300" y="2076450"/>
            <a:ext cx="914400" cy="91440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F75C1AF2-2A4E-4278-B81F-E28435EBF80C}"/>
              </a:ext>
            </a:extLst>
          </p:cNvPr>
          <p:cNvSpPr>
            <a:spLocks xmlns:a="http://schemas.openxmlformats.org/drawingml/2006/main" noGrp="1"/>
          </p:cNvSpPr>
          <p:nvPr/>
        </p:nvSpPr>
        <p:spPr>
          <a:xfrm xmlns:a="http://schemas.openxmlformats.org/drawingml/2006/main">
            <a:off x="8667750" y="32766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lgn="ctr">
              <a:defRPr sz="1800" b="1">
                <a:solidFill>
                  <a:srgbClr val="17233F"/>
                </a:solidFill>
                <a:latin typeface="DejaVu Sans"/>
                <a:ea typeface="DejaVu Sans"/>
                <a:cs typeface="DejaVu Sans"/>
              </a:defRPr>
            </a:pPr>
            <a:r>
              <a:rPr sz="1800" b="1">
                <a:solidFill>
                  <a:srgbClr val="17233F"/>
                </a:solidFill>
                <a:latin typeface="DejaVu Sans"/>
                <a:ea typeface="DejaVu Sans"/>
                <a:cs typeface="DejaVu Sans"/>
              </a:rPr>
              <a:t>Watching only the ball</a:t>
            </a:r>
          </a:p>
        </p:txBody>
      </p:sp>
      <p:sp>
        <p:nvSpPr>
          <p:cNvPr id="17" name="">
            <a:extLst xmlns:a="http://schemas.openxmlformats.org/drawingml/2006/main">
              <a:ext uri="{FF2B5EF4-FFF2-40B4-BE49-F238E27FC236}">
                <a16:creationId xmlns:a16="http://schemas.microsoft.com/office/drawing/2014/main" id="{EC5E22B0-E610-432F-8EBF-83934EB92AFA}"/>
              </a:ext>
            </a:extLst>
          </p:cNvPr>
          <p:cNvSpPr>
            <a:spLocks xmlns:a="http://schemas.openxmlformats.org/drawingml/2006/main" noGrp="1"/>
          </p:cNvSpPr>
          <p:nvPr/>
        </p:nvSpPr>
        <p:spPr>
          <a:xfrm xmlns:a="http://schemas.openxmlformats.org/drawingml/2006/main">
            <a:off x="8743950" y="4171950"/>
            <a:ext cx="2705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Notice spacing, support runs, recovery, and reactions after turnovers.</a:t>
            </a:r>
          </a:p>
        </p:txBody>
      </p:sp>
      <p:sp>
        <p:nvSpPr>
          <p:cNvPr id="18" name="">
            <a:extLst xmlns:a="http://schemas.openxmlformats.org/drawingml/2006/main">
              <a:ext uri="{FF2B5EF4-FFF2-40B4-BE49-F238E27FC236}">
                <a16:creationId xmlns:a16="http://schemas.microsoft.com/office/drawing/2014/main" id="{47CBE7D0-9F2C-4976-9EAB-DC5036653561}"/>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56637A"/>
                </a:solidFill>
                <a:latin typeface="DejaVu Sans"/>
                <a:ea typeface="DejaVu Sans"/>
                <a:cs typeface="DejaVu Sans"/>
              </a:defRPr>
            </a:pPr>
            <a:r>
              <a:rPr sz="825" b="0">
                <a:solidFill>
                  <a:srgbClr val="56637A"/>
                </a:solidFill>
                <a:latin typeface="DejaVu Sans"/>
                <a:ea typeface="DejaVu Sans"/>
                <a:cs typeface="DejaVu Sans"/>
              </a:rPr>
              <a:t>Cypress AYSO Region 154  |  4</a:t>
            </a:r>
          </a:p>
        </p:txBody>
      </p:sp>
    </p:spTree>
    <p:extLst>
      <p:ext uri="{BB962C8B-B14F-4D97-AF65-F5344CB8AC3E}">
        <p14:creationId xmlns:p14="http://schemas.microsoft.com/office/powerpoint/2010/main" val="717577625"/>
      </p:ext>
    </p:extLst>
  </p:cSld>
</p:sld>
</file>

<file path=ppt/slides/slide5.xml><?xml version="1.0" encoding="utf-8"?>
<p:sld xmlns:p="http://schemas.openxmlformats.org/presentationml/2006/main">
  <p:cSld>
    <p:bg>
      <p:bgPr>
        <a:solidFill xmlns:a="http://schemas.openxmlformats.org/drawingml/2006/main">
          <a:srgbClr val="F2F5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472E8F0-CC73-4F2F-A199-6EA2D96915D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03C123-4C83-4A11-9E33-28FADBDC2566}"/>
              </a:ext>
            </a:extLst>
          </p:cNvPr>
          <p:cNvSpPr>
            <a:spLocks xmlns:a="http://schemas.openxmlformats.org/drawingml/2006/main" noGrp="1"/>
          </p:cNvSpPr>
          <p:nvPr/>
        </p:nvSpPr>
        <p:spPr>
          <a:xfrm xmlns:a="http://schemas.openxmlformats.org/drawingml/2006/main">
            <a:off x="609600" y="285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E3232E"/>
                </a:solidFill>
                <a:latin typeface="DejaVu Sans"/>
                <a:ea typeface="DejaVu Sans"/>
                <a:cs typeface="DejaVu Sans"/>
              </a:defRPr>
            </a:pPr>
            <a:r>
              <a:rPr sz="1050" b="1">
                <a:solidFill>
                  <a:srgbClr val="E3232E"/>
                </a:solidFill>
                <a:latin typeface="DejaVu Sans"/>
                <a:ea typeface="DejaVu Sans"/>
                <a:cs typeface="DejaVu Sans"/>
              </a:rPr>
              <a:t>COACH EVALUATION</a:t>
            </a:r>
          </a:p>
        </p:txBody>
      </p:sp>
      <p:sp>
        <p:nvSpPr>
          <p:cNvPr id="3" name="">
            <a:extLst xmlns:a="http://schemas.openxmlformats.org/drawingml/2006/main">
              <a:ext uri="{FF2B5EF4-FFF2-40B4-BE49-F238E27FC236}">
                <a16:creationId xmlns:a16="http://schemas.microsoft.com/office/drawing/2014/main" id="{903A1487-DA25-4464-BE0F-9340629E6034}"/>
              </a:ext>
            </a:extLst>
          </p:cNvPr>
          <p:cNvSpPr>
            <a:spLocks xmlns:a="http://schemas.openxmlformats.org/drawingml/2006/main" noGrp="1"/>
          </p:cNvSpPr>
          <p:nvPr/>
        </p:nvSpPr>
        <p:spPr>
          <a:xfrm xmlns:a="http://schemas.openxmlformats.org/drawingml/2006/main">
            <a:off x="609600" y="590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E3265"/>
                </a:solidFill>
                <a:latin typeface="DejaVu Sans"/>
                <a:ea typeface="DejaVu Sans"/>
                <a:cs typeface="DejaVu Sans"/>
              </a:defRPr>
            </a:pPr>
            <a:r>
              <a:rPr sz="2550" b="1">
                <a:solidFill>
                  <a:srgbClr val="1E3265"/>
                </a:solidFill>
                <a:latin typeface="DejaVu Sans"/>
                <a:ea typeface="DejaVu Sans"/>
                <a:cs typeface="DejaVu Sans"/>
              </a:rPr>
              <a:t>The 1–5 rating scale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6bb49732fb24156"/>
          <a:stretch xmlns:a="http://schemas.openxmlformats.org/drawingml/2006/main"/>
        </p:blipFill>
        <p:spPr>
          <a:xfrm xmlns:a="http://schemas.openxmlformats.org/drawingml/2006/main">
            <a:off x="10934700" y="2667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AD2026-056E-42B8-9495-7F7E72F972BD}"/>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A57016-EA39-461E-95FC-3B0A4EF074E6}"/>
              </a:ext>
            </a:extLst>
          </p:cNvPr>
          <p:cNvSpPr>
            <a:spLocks xmlns:a="http://schemas.openxmlformats.org/drawingml/2006/main" noGrp="1"/>
          </p:cNvSpPr>
          <p:nvPr/>
        </p:nvSpPr>
        <p:spPr>
          <a:xfrm xmlns:a="http://schemas.openxmlformats.org/drawingml/2006/main">
            <a:off x="990600" y="1562100"/>
            <a:ext cx="590550" cy="590550"/>
          </a:xfrm>
          <a:prstGeom xmlns:a="http://schemas.openxmlformats.org/drawingml/2006/main" prst="ellipse">
            <a:avLst/>
          </a:prstGeom>
          <a:solidFill xmlns:a="http://schemas.openxmlformats.org/drawingml/2006/main">
            <a:srgbClr val="E3232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5</a:t>
            </a:r>
          </a:p>
        </p:txBody>
      </p:sp>
      <p:sp>
        <p:nvSpPr>
          <p:cNvPr id="7" name="">
            <a:extLst xmlns:a="http://schemas.openxmlformats.org/drawingml/2006/main">
              <a:ext uri="{FF2B5EF4-FFF2-40B4-BE49-F238E27FC236}">
                <a16:creationId xmlns:a16="http://schemas.microsoft.com/office/drawing/2014/main" id="{0811F95C-CA31-4FC0-865B-6C9186B94320}"/>
              </a:ext>
            </a:extLst>
          </p:cNvPr>
          <p:cNvSpPr>
            <a:spLocks xmlns:a="http://schemas.openxmlformats.org/drawingml/2006/main" noGrp="1"/>
          </p:cNvSpPr>
          <p:nvPr/>
        </p:nvSpPr>
        <p:spPr>
          <a:xfrm xmlns:a="http://schemas.openxmlformats.org/drawingml/2006/main">
            <a:off x="1866900" y="15811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Rare game changer</a:t>
            </a:r>
          </a:p>
        </p:txBody>
      </p:sp>
      <p:sp>
        <p:nvSpPr>
          <p:cNvPr id="8" name="">
            <a:extLst xmlns:a="http://schemas.openxmlformats.org/drawingml/2006/main">
              <a:ext uri="{FF2B5EF4-FFF2-40B4-BE49-F238E27FC236}">
                <a16:creationId xmlns:a16="http://schemas.microsoft.com/office/drawing/2014/main" id="{D1B70095-E1B6-46FB-A8BF-5FCF4D571357}"/>
              </a:ext>
            </a:extLst>
          </p:cNvPr>
          <p:cNvSpPr>
            <a:spLocks xmlns:a="http://schemas.openxmlformats.org/drawingml/2006/main" noGrp="1"/>
          </p:cNvSpPr>
          <p:nvPr/>
        </p:nvSpPr>
        <p:spPr>
          <a:xfrm xmlns:a="http://schemas.openxmlformats.org/drawingml/2006/main">
            <a:off x="5162550" y="1581150"/>
            <a:ext cx="596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Repeatedly changes games within the division</a:t>
            </a:r>
          </a:p>
        </p:txBody>
      </p:sp>
      <p:sp>
        <p:nvSpPr>
          <p:cNvPr id="9" name="">
            <a:extLst xmlns:a="http://schemas.openxmlformats.org/drawingml/2006/main">
              <a:ext uri="{FF2B5EF4-FFF2-40B4-BE49-F238E27FC236}">
                <a16:creationId xmlns:a16="http://schemas.microsoft.com/office/drawing/2014/main" id="{05E553C7-582A-4A8D-A6FA-39ABE6CB1EC7}"/>
              </a:ext>
            </a:extLst>
          </p:cNvPr>
          <p:cNvSpPr>
            <a:spLocks xmlns:a="http://schemas.openxmlformats.org/drawingml/2006/main" noGrp="1"/>
          </p:cNvSpPr>
          <p:nvPr/>
        </p:nvSpPr>
        <p:spPr>
          <a:xfrm xmlns:a="http://schemas.openxmlformats.org/drawingml/2006/main">
            <a:off x="1866900" y="2247900"/>
            <a:ext cx="9258300" cy="9525"/>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839635-3565-4E5B-AC41-1AF59B88F70C}"/>
              </a:ext>
            </a:extLst>
          </p:cNvPr>
          <p:cNvSpPr>
            <a:spLocks xmlns:a="http://schemas.openxmlformats.org/drawingml/2006/main" noGrp="1"/>
          </p:cNvSpPr>
          <p:nvPr/>
        </p:nvSpPr>
        <p:spPr>
          <a:xfrm xmlns:a="http://schemas.openxmlformats.org/drawingml/2006/main">
            <a:off x="990600" y="2400300"/>
            <a:ext cx="590550" cy="590550"/>
          </a:xfrm>
          <a:prstGeom xmlns:a="http://schemas.openxmlformats.org/drawingml/2006/main" prst="ellipse">
            <a:avLst/>
          </a:prstGeom>
          <a:solidFill xmlns:a="http://schemas.openxmlformats.org/drawingml/2006/main">
            <a:srgbClr val="263B77"/>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4</a:t>
            </a:r>
          </a:p>
        </p:txBody>
      </p:sp>
      <p:sp>
        <p:nvSpPr>
          <p:cNvPr id="11" name="">
            <a:extLst xmlns:a="http://schemas.openxmlformats.org/drawingml/2006/main">
              <a:ext uri="{FF2B5EF4-FFF2-40B4-BE49-F238E27FC236}">
                <a16:creationId xmlns:a16="http://schemas.microsoft.com/office/drawing/2014/main" id="{2C4C0880-15FE-4760-BF0B-AD49DA508148}"/>
              </a:ext>
            </a:extLst>
          </p:cNvPr>
          <p:cNvSpPr>
            <a:spLocks xmlns:a="http://schemas.openxmlformats.org/drawingml/2006/main" noGrp="1"/>
          </p:cNvSpPr>
          <p:nvPr/>
        </p:nvSpPr>
        <p:spPr>
          <a:xfrm xmlns:a="http://schemas.openxmlformats.org/drawingml/2006/main">
            <a:off x="1866900" y="24193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Strong contributor</a:t>
            </a:r>
          </a:p>
        </p:txBody>
      </p:sp>
      <p:sp>
        <p:nvSpPr>
          <p:cNvPr id="12" name="">
            <a:extLst xmlns:a="http://schemas.openxmlformats.org/drawingml/2006/main">
              <a:ext uri="{FF2B5EF4-FFF2-40B4-BE49-F238E27FC236}">
                <a16:creationId xmlns:a16="http://schemas.microsoft.com/office/drawing/2014/main" id="{1D748E53-F5D3-4F70-89B3-A24F6132BE5B}"/>
              </a:ext>
            </a:extLst>
          </p:cNvPr>
          <p:cNvSpPr>
            <a:spLocks xmlns:a="http://schemas.openxmlformats.org/drawingml/2006/main" noGrp="1"/>
          </p:cNvSpPr>
          <p:nvPr/>
        </p:nvSpPr>
        <p:spPr>
          <a:xfrm xmlns:a="http://schemas.openxmlformats.org/drawingml/2006/main">
            <a:off x="5162550" y="2419350"/>
            <a:ext cx="596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Consistently performs above the division average</a:t>
            </a:r>
          </a:p>
        </p:txBody>
      </p:sp>
      <p:sp>
        <p:nvSpPr>
          <p:cNvPr id="13" name="">
            <a:extLst xmlns:a="http://schemas.openxmlformats.org/drawingml/2006/main">
              <a:ext uri="{FF2B5EF4-FFF2-40B4-BE49-F238E27FC236}">
                <a16:creationId xmlns:a16="http://schemas.microsoft.com/office/drawing/2014/main" id="{3A2877C8-3A8E-45A7-86FB-DD67EDAC3C7B}"/>
              </a:ext>
            </a:extLst>
          </p:cNvPr>
          <p:cNvSpPr>
            <a:spLocks xmlns:a="http://schemas.openxmlformats.org/drawingml/2006/main" noGrp="1"/>
          </p:cNvSpPr>
          <p:nvPr/>
        </p:nvSpPr>
        <p:spPr>
          <a:xfrm xmlns:a="http://schemas.openxmlformats.org/drawingml/2006/main">
            <a:off x="1866900" y="3086100"/>
            <a:ext cx="9258300" cy="9525"/>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E14310-9017-40C4-96FD-53B60B6D69C5}"/>
              </a:ext>
            </a:extLst>
          </p:cNvPr>
          <p:cNvSpPr>
            <a:spLocks xmlns:a="http://schemas.openxmlformats.org/drawingml/2006/main" noGrp="1"/>
          </p:cNvSpPr>
          <p:nvPr/>
        </p:nvSpPr>
        <p:spPr>
          <a:xfrm xmlns:a="http://schemas.openxmlformats.org/drawingml/2006/main">
            <a:off x="990600" y="3238500"/>
            <a:ext cx="590550" cy="590550"/>
          </a:xfrm>
          <a:prstGeom xmlns:a="http://schemas.openxmlformats.org/drawingml/2006/main" prst="ellipse">
            <a:avLst/>
          </a:prstGeom>
          <a:solidFill xmlns:a="http://schemas.openxmlformats.org/drawingml/2006/main">
            <a:srgbClr val="3D765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3</a:t>
            </a:r>
          </a:p>
        </p:txBody>
      </p:sp>
      <p:sp>
        <p:nvSpPr>
          <p:cNvPr id="15" name="">
            <a:extLst xmlns:a="http://schemas.openxmlformats.org/drawingml/2006/main">
              <a:ext uri="{FF2B5EF4-FFF2-40B4-BE49-F238E27FC236}">
                <a16:creationId xmlns:a16="http://schemas.microsoft.com/office/drawing/2014/main" id="{1882D2E6-B9E1-4F5C-A3A4-807C185F481E}"/>
              </a:ext>
            </a:extLst>
          </p:cNvPr>
          <p:cNvSpPr>
            <a:spLocks xmlns:a="http://schemas.openxmlformats.org/drawingml/2006/main" noGrp="1"/>
          </p:cNvSpPr>
          <p:nvPr/>
        </p:nvSpPr>
        <p:spPr>
          <a:xfrm xmlns:a="http://schemas.openxmlformats.org/drawingml/2006/main">
            <a:off x="1866900" y="32575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Solid division player</a:t>
            </a:r>
          </a:p>
        </p:txBody>
      </p:sp>
      <p:sp>
        <p:nvSpPr>
          <p:cNvPr id="16" name="">
            <a:extLst xmlns:a="http://schemas.openxmlformats.org/drawingml/2006/main">
              <a:ext uri="{FF2B5EF4-FFF2-40B4-BE49-F238E27FC236}">
                <a16:creationId xmlns:a16="http://schemas.microsoft.com/office/drawing/2014/main" id="{0CA34007-AB6B-40E9-97A0-1C2368085B69}"/>
              </a:ext>
            </a:extLst>
          </p:cNvPr>
          <p:cNvSpPr>
            <a:spLocks xmlns:a="http://schemas.openxmlformats.org/drawingml/2006/main" noGrp="1"/>
          </p:cNvSpPr>
          <p:nvPr/>
        </p:nvSpPr>
        <p:spPr>
          <a:xfrm xmlns:a="http://schemas.openxmlformats.org/drawingml/2006/main">
            <a:off x="5162550" y="3257550"/>
            <a:ext cx="596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Reliable core player with basic skills and understanding</a:t>
            </a:r>
          </a:p>
        </p:txBody>
      </p:sp>
      <p:sp>
        <p:nvSpPr>
          <p:cNvPr id="17" name="">
            <a:extLst xmlns:a="http://schemas.openxmlformats.org/drawingml/2006/main">
              <a:ext uri="{FF2B5EF4-FFF2-40B4-BE49-F238E27FC236}">
                <a16:creationId xmlns:a16="http://schemas.microsoft.com/office/drawing/2014/main" id="{C2F0B825-47A3-46BF-8DD2-1608F14784ED}"/>
              </a:ext>
            </a:extLst>
          </p:cNvPr>
          <p:cNvSpPr>
            <a:spLocks xmlns:a="http://schemas.openxmlformats.org/drawingml/2006/main" noGrp="1"/>
          </p:cNvSpPr>
          <p:nvPr/>
        </p:nvSpPr>
        <p:spPr>
          <a:xfrm xmlns:a="http://schemas.openxmlformats.org/drawingml/2006/main">
            <a:off x="1866900" y="3924300"/>
            <a:ext cx="9258300" cy="9525"/>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796E0EA-F891-4FD2-81B7-1B7B3C10964C}"/>
              </a:ext>
            </a:extLst>
          </p:cNvPr>
          <p:cNvSpPr>
            <a:spLocks xmlns:a="http://schemas.openxmlformats.org/drawingml/2006/main" noGrp="1"/>
          </p:cNvSpPr>
          <p:nvPr/>
        </p:nvSpPr>
        <p:spPr>
          <a:xfrm xmlns:a="http://schemas.openxmlformats.org/drawingml/2006/main">
            <a:off x="990600" y="4076700"/>
            <a:ext cx="590550" cy="590550"/>
          </a:xfrm>
          <a:prstGeom xmlns:a="http://schemas.openxmlformats.org/drawingml/2006/main" prst="ellipse">
            <a:avLst/>
          </a:prstGeom>
          <a:solidFill xmlns:a="http://schemas.openxmlformats.org/drawingml/2006/main">
            <a:srgbClr val="6F7D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2</a:t>
            </a:r>
          </a:p>
        </p:txBody>
      </p:sp>
      <p:sp>
        <p:nvSpPr>
          <p:cNvPr id="19" name="">
            <a:extLst xmlns:a="http://schemas.openxmlformats.org/drawingml/2006/main">
              <a:ext uri="{FF2B5EF4-FFF2-40B4-BE49-F238E27FC236}">
                <a16:creationId xmlns:a16="http://schemas.microsoft.com/office/drawing/2014/main" id="{5E020232-062A-45E2-AA87-79990AAE5E6D}"/>
              </a:ext>
            </a:extLst>
          </p:cNvPr>
          <p:cNvSpPr>
            <a:spLocks xmlns:a="http://schemas.openxmlformats.org/drawingml/2006/main" noGrp="1"/>
          </p:cNvSpPr>
          <p:nvPr/>
        </p:nvSpPr>
        <p:spPr>
          <a:xfrm xmlns:a="http://schemas.openxmlformats.org/drawingml/2006/main">
            <a:off x="1866900" y="40957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Developing player</a:t>
            </a:r>
          </a:p>
        </p:txBody>
      </p:sp>
      <p:sp>
        <p:nvSpPr>
          <p:cNvPr id="20" name="">
            <a:extLst xmlns:a="http://schemas.openxmlformats.org/drawingml/2006/main">
              <a:ext uri="{FF2B5EF4-FFF2-40B4-BE49-F238E27FC236}">
                <a16:creationId xmlns:a16="http://schemas.microsoft.com/office/drawing/2014/main" id="{EB6FDA24-84F3-40AA-81E9-90105E91D8F9}"/>
              </a:ext>
            </a:extLst>
          </p:cNvPr>
          <p:cNvSpPr>
            <a:spLocks xmlns:a="http://schemas.openxmlformats.org/drawingml/2006/main" noGrp="1"/>
          </p:cNvSpPr>
          <p:nvPr/>
        </p:nvSpPr>
        <p:spPr>
          <a:xfrm xmlns:a="http://schemas.openxmlformats.org/drawingml/2006/main">
            <a:off x="5162550" y="4095750"/>
            <a:ext cx="596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Shows partial skills and benefits from support</a:t>
            </a:r>
          </a:p>
        </p:txBody>
      </p:sp>
      <p:sp>
        <p:nvSpPr>
          <p:cNvPr id="21" name="">
            <a:extLst xmlns:a="http://schemas.openxmlformats.org/drawingml/2006/main">
              <a:ext uri="{FF2B5EF4-FFF2-40B4-BE49-F238E27FC236}">
                <a16:creationId xmlns:a16="http://schemas.microsoft.com/office/drawing/2014/main" id="{37DBE25C-7124-423A-BFC1-692E3C794D5D}"/>
              </a:ext>
            </a:extLst>
          </p:cNvPr>
          <p:cNvSpPr>
            <a:spLocks xmlns:a="http://schemas.openxmlformats.org/drawingml/2006/main" noGrp="1"/>
          </p:cNvSpPr>
          <p:nvPr/>
        </p:nvSpPr>
        <p:spPr>
          <a:xfrm xmlns:a="http://schemas.openxmlformats.org/drawingml/2006/main">
            <a:off x="1866900" y="4762500"/>
            <a:ext cx="9258300" cy="9525"/>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69F3EB6-CAC2-4FEB-9041-C572FF48BF99}"/>
              </a:ext>
            </a:extLst>
          </p:cNvPr>
          <p:cNvSpPr>
            <a:spLocks xmlns:a="http://schemas.openxmlformats.org/drawingml/2006/main" noGrp="1"/>
          </p:cNvSpPr>
          <p:nvPr/>
        </p:nvSpPr>
        <p:spPr>
          <a:xfrm xmlns:a="http://schemas.openxmlformats.org/drawingml/2006/main">
            <a:off x="990600" y="4914900"/>
            <a:ext cx="590550" cy="590550"/>
          </a:xfrm>
          <a:prstGeom xmlns:a="http://schemas.openxmlformats.org/drawingml/2006/main" prst="ellipse">
            <a:avLst/>
          </a:prstGeom>
          <a:solidFill xmlns:a="http://schemas.openxmlformats.org/drawingml/2006/main">
            <a:srgbClr val="8E99A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1</a:t>
            </a:r>
          </a:p>
        </p:txBody>
      </p:sp>
      <p:sp>
        <p:nvSpPr>
          <p:cNvPr id="23" name="">
            <a:extLst xmlns:a="http://schemas.openxmlformats.org/drawingml/2006/main">
              <a:ext uri="{FF2B5EF4-FFF2-40B4-BE49-F238E27FC236}">
                <a16:creationId xmlns:a16="http://schemas.microsoft.com/office/drawing/2014/main" id="{6340A250-B10D-4FF9-AF66-190FBBFD9A59}"/>
              </a:ext>
            </a:extLst>
          </p:cNvPr>
          <p:cNvSpPr>
            <a:spLocks xmlns:a="http://schemas.openxmlformats.org/drawingml/2006/main" noGrp="1"/>
          </p:cNvSpPr>
          <p:nvPr/>
        </p:nvSpPr>
        <p:spPr>
          <a:xfrm xmlns:a="http://schemas.openxmlformats.org/drawingml/2006/main">
            <a:off x="1866900" y="49339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Building the basics</a:t>
            </a:r>
          </a:p>
        </p:txBody>
      </p:sp>
      <p:sp>
        <p:nvSpPr>
          <p:cNvPr id="24" name="">
            <a:extLst xmlns:a="http://schemas.openxmlformats.org/drawingml/2006/main">
              <a:ext uri="{FF2B5EF4-FFF2-40B4-BE49-F238E27FC236}">
                <a16:creationId xmlns:a16="http://schemas.microsoft.com/office/drawing/2014/main" id="{5C5B79B9-CFF2-412D-9F94-50AADB469884}"/>
              </a:ext>
            </a:extLst>
          </p:cNvPr>
          <p:cNvSpPr>
            <a:spLocks xmlns:a="http://schemas.openxmlformats.org/drawingml/2006/main" noGrp="1"/>
          </p:cNvSpPr>
          <p:nvPr/>
        </p:nvSpPr>
        <p:spPr>
          <a:xfrm xmlns:a="http://schemas.openxmlformats.org/drawingml/2006/main">
            <a:off x="5162550" y="4933950"/>
            <a:ext cx="596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Developing comfort, coordination, and confidence</a:t>
            </a:r>
          </a:p>
        </p:txBody>
      </p:sp>
      <p:sp>
        <p:nvSpPr>
          <p:cNvPr id="25" name="">
            <a:extLst xmlns:a="http://schemas.openxmlformats.org/drawingml/2006/main">
              <a:ext uri="{FF2B5EF4-FFF2-40B4-BE49-F238E27FC236}">
                <a16:creationId xmlns:a16="http://schemas.microsoft.com/office/drawing/2014/main" id="{74EEB5AD-5197-4468-93A2-1A6043EBC57C}"/>
              </a:ext>
            </a:extLst>
          </p:cNvPr>
          <p:cNvSpPr>
            <a:spLocks xmlns:a="http://schemas.openxmlformats.org/drawingml/2006/main" noGrp="1"/>
          </p:cNvSpPr>
          <p:nvPr/>
        </p:nvSpPr>
        <p:spPr>
          <a:xfrm xmlns:a="http://schemas.openxmlformats.org/drawingml/2006/main">
            <a:off x="3028950" y="5867400"/>
            <a:ext cx="6134100" cy="457200"/>
          </a:xfrm>
          <a:prstGeom xmlns:a="http://schemas.openxmlformats.org/drawingml/2006/main" prst="roundRect">
            <a:avLst>
              <a:gd name="adj" fmla="val 33333"/>
            </a:avLst>
          </a:prstGeom>
          <a:solidFill xmlns:a="http://schemas.openxmlformats.org/drawingml/2006/main">
            <a:srgbClr val="EAF4E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1139E78-D4AE-4285-9477-7EB8E124DA0F}"/>
              </a:ext>
            </a:extLst>
          </p:cNvPr>
          <p:cNvSpPr>
            <a:spLocks xmlns:a="http://schemas.openxmlformats.org/drawingml/2006/main" noGrp="1"/>
          </p:cNvSpPr>
          <p:nvPr/>
        </p:nvSpPr>
        <p:spPr>
          <a:xfrm xmlns:a="http://schemas.openxmlformats.org/drawingml/2006/main">
            <a:off x="3238500" y="59626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3D7658"/>
                </a:solidFill>
                <a:latin typeface="DejaVu Sans"/>
                <a:ea typeface="DejaVu Sans"/>
                <a:cs typeface="DejaVu Sans"/>
              </a:defRPr>
            </a:pPr>
            <a:r>
              <a:rPr sz="1575" b="1">
                <a:solidFill>
                  <a:srgbClr val="3D7658"/>
                </a:solidFill>
                <a:latin typeface="DejaVu Sans"/>
                <a:ea typeface="DejaVu Sans"/>
                <a:cs typeface="DejaVu Sans"/>
              </a:rPr>
              <a:t>A 3 is the backbone of a balanced division</a:t>
            </a:r>
          </a:p>
        </p:txBody>
      </p:sp>
      <p:sp>
        <p:nvSpPr>
          <p:cNvPr id="27" name="">
            <a:extLst xmlns:a="http://schemas.openxmlformats.org/drawingml/2006/main">
              <a:ext uri="{FF2B5EF4-FFF2-40B4-BE49-F238E27FC236}">
                <a16:creationId xmlns:a16="http://schemas.microsoft.com/office/drawing/2014/main" id="{1E53EE58-BD5F-4DC7-8720-DB4917805559}"/>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56637A"/>
                </a:solidFill>
                <a:latin typeface="DejaVu Sans"/>
                <a:ea typeface="DejaVu Sans"/>
                <a:cs typeface="DejaVu Sans"/>
              </a:defRPr>
            </a:pPr>
            <a:r>
              <a:rPr sz="825" b="0">
                <a:solidFill>
                  <a:srgbClr val="56637A"/>
                </a:solidFill>
                <a:latin typeface="DejaVu Sans"/>
                <a:ea typeface="DejaVu Sans"/>
                <a:cs typeface="DejaVu Sans"/>
              </a:rPr>
              <a:t>Cypress AYSO Region 154  |  5</a:t>
            </a:r>
          </a:p>
        </p:txBody>
      </p:sp>
    </p:spTree>
    <p:extLst>
      <p:ext uri="{BB962C8B-B14F-4D97-AF65-F5344CB8AC3E}">
        <p14:creationId xmlns:p14="http://schemas.microsoft.com/office/powerpoint/2010/main" val="3701331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A5BB02E-C04F-41DC-B103-D68E4F4766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23D346-232E-40C2-BFB7-4F9FAE943467}"/>
              </a:ext>
            </a:extLst>
          </p:cNvPr>
          <p:cNvSpPr>
            <a:spLocks xmlns:a="http://schemas.openxmlformats.org/drawingml/2006/main" noGrp="1"/>
          </p:cNvSpPr>
          <p:nvPr/>
        </p:nvSpPr>
        <p:spPr>
          <a:xfrm xmlns:a="http://schemas.openxmlformats.org/drawingml/2006/main">
            <a:off x="609600" y="285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E3232E"/>
                </a:solidFill>
                <a:latin typeface="DejaVu Sans"/>
                <a:ea typeface="DejaVu Sans"/>
                <a:cs typeface="DejaVu Sans"/>
              </a:defRPr>
            </a:pPr>
            <a:r>
              <a:rPr sz="1050" b="1">
                <a:solidFill>
                  <a:srgbClr val="E3232E"/>
                </a:solidFill>
                <a:latin typeface="DejaVu Sans"/>
                <a:ea typeface="DejaVu Sans"/>
                <a:cs typeface="DejaVu Sans"/>
              </a:rPr>
              <a:t>COACH EVALUATION</a:t>
            </a:r>
          </a:p>
        </p:txBody>
      </p:sp>
      <p:sp>
        <p:nvSpPr>
          <p:cNvPr id="3" name="">
            <a:extLst xmlns:a="http://schemas.openxmlformats.org/drawingml/2006/main">
              <a:ext uri="{FF2B5EF4-FFF2-40B4-BE49-F238E27FC236}">
                <a16:creationId xmlns:a16="http://schemas.microsoft.com/office/drawing/2014/main" id="{768A7840-30A1-4680-AB45-2C6E5BBF345C}"/>
              </a:ext>
            </a:extLst>
          </p:cNvPr>
          <p:cNvSpPr>
            <a:spLocks xmlns:a="http://schemas.openxmlformats.org/drawingml/2006/main" noGrp="1"/>
          </p:cNvSpPr>
          <p:nvPr/>
        </p:nvSpPr>
        <p:spPr>
          <a:xfrm xmlns:a="http://schemas.openxmlformats.org/drawingml/2006/main">
            <a:off x="609600" y="590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E3265"/>
                </a:solidFill>
                <a:latin typeface="DejaVu Sans"/>
                <a:ea typeface="DejaVu Sans"/>
                <a:cs typeface="DejaVu Sans"/>
              </a:defRPr>
            </a:pPr>
            <a:r>
              <a:rPr sz="2550" b="1">
                <a:solidFill>
                  <a:srgbClr val="1E3265"/>
                </a:solidFill>
                <a:latin typeface="DejaVu Sans"/>
                <a:ea typeface="DejaVu Sans"/>
                <a:cs typeface="DejaVu Sans"/>
              </a:rPr>
              <a:t>Four observation lenses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2e80cfaec1e4bc9"/>
          <a:stretch xmlns:a="http://schemas.openxmlformats.org/drawingml/2006/main"/>
        </p:blipFill>
        <p:spPr>
          <a:xfrm xmlns:a="http://schemas.openxmlformats.org/drawingml/2006/main">
            <a:off x="10934700" y="2667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84FB04-A9EA-48FF-8D57-BBB45AFC78A2}"/>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83847E-5A32-42B6-B2A2-F29106F7973B}"/>
              </a:ext>
            </a:extLst>
          </p:cNvPr>
          <p:cNvSpPr>
            <a:spLocks xmlns:a="http://schemas.openxmlformats.org/drawingml/2006/main" noGrp="1"/>
          </p:cNvSpPr>
          <p:nvPr/>
        </p:nvSpPr>
        <p:spPr>
          <a:xfrm xmlns:a="http://schemas.openxmlformats.org/drawingml/2006/main">
            <a:off x="666750" y="1619250"/>
            <a:ext cx="5238750" cy="1752600"/>
          </a:xfrm>
          <a:prstGeom xmlns:a="http://schemas.openxmlformats.org/drawingml/2006/main" prst="roundRect">
            <a:avLst>
              <a:gd name="adj" fmla="val 13043"/>
            </a:avLst>
          </a:prstGeom>
          <a:solidFill xmlns:a="http://schemas.openxmlformats.org/drawingml/2006/main">
            <a:srgbClr val="E7ED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2D48727-1EC5-4A44-AED8-71A64E13FC50}"/>
              </a:ext>
            </a:extLst>
          </p:cNvPr>
          <p:cNvSpPr>
            <a:spLocks xmlns:a="http://schemas.openxmlformats.org/drawingml/2006/main" noGrp="1"/>
          </p:cNvSpPr>
          <p:nvPr/>
        </p:nvSpPr>
        <p:spPr>
          <a:xfrm xmlns:a="http://schemas.openxmlformats.org/drawingml/2006/main">
            <a:off x="933450" y="1885950"/>
            <a:ext cx="590550" cy="5905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47210E75-23E8-4E6F-90B1-7D462F374AC6}"/>
              </a:ext>
            </a:extLst>
          </p:cNvPr>
          <p:cNvSpPr>
            <a:spLocks xmlns:a="http://schemas.openxmlformats.org/drawingml/2006/main" noGrp="1"/>
          </p:cNvSpPr>
          <p:nvPr/>
        </p:nvSpPr>
        <p:spPr>
          <a:xfrm xmlns:a="http://schemas.openxmlformats.org/drawingml/2006/main">
            <a:off x="1771650" y="18669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1E3265"/>
                </a:solidFill>
                <a:latin typeface="DejaVu Sans"/>
                <a:ea typeface="DejaVu Sans"/>
                <a:cs typeface="DejaVu Sans"/>
              </a:defRPr>
            </a:pPr>
            <a:r>
              <a:rPr sz="1200" b="1">
                <a:solidFill>
                  <a:srgbClr val="1E3265"/>
                </a:solidFill>
                <a:latin typeface="DejaVu Sans"/>
                <a:ea typeface="DejaVu Sans"/>
                <a:cs typeface="DejaVu Sans"/>
              </a:rPr>
              <a:t>TECHNICAL</a:t>
            </a:r>
          </a:p>
        </p:txBody>
      </p:sp>
      <p:sp>
        <p:nvSpPr>
          <p:cNvPr id="9" name="">
            <a:extLst xmlns:a="http://schemas.openxmlformats.org/drawingml/2006/main">
              <a:ext uri="{FF2B5EF4-FFF2-40B4-BE49-F238E27FC236}">
                <a16:creationId xmlns:a16="http://schemas.microsoft.com/office/drawing/2014/main" id="{AE531635-B3E6-4CAC-9912-559BAFA98B33}"/>
              </a:ext>
            </a:extLst>
          </p:cNvPr>
          <p:cNvSpPr>
            <a:spLocks xmlns:a="http://schemas.openxmlformats.org/drawingml/2006/main" noGrp="1"/>
          </p:cNvSpPr>
          <p:nvPr/>
        </p:nvSpPr>
        <p:spPr>
          <a:xfrm xmlns:a="http://schemas.openxmlformats.org/drawingml/2006/main">
            <a:off x="1771650" y="23050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17233F"/>
                </a:solidFill>
                <a:latin typeface="DejaVu Sans"/>
                <a:ea typeface="DejaVu Sans"/>
                <a:cs typeface="DejaVu Sans"/>
              </a:defRPr>
            </a:pPr>
            <a:r>
              <a:rPr sz="1650" b="1">
                <a:solidFill>
                  <a:srgbClr val="17233F"/>
                </a:solidFill>
                <a:latin typeface="DejaVu Sans"/>
                <a:ea typeface="DejaVu Sans"/>
                <a:cs typeface="DejaVu Sans"/>
              </a:rPr>
              <a:t>First touch and control</a:t>
            </a:r>
          </a:p>
        </p:txBody>
      </p:sp>
      <p:sp>
        <p:nvSpPr>
          <p:cNvPr id="10" name="">
            <a:extLst xmlns:a="http://schemas.openxmlformats.org/drawingml/2006/main">
              <a:ext uri="{FF2B5EF4-FFF2-40B4-BE49-F238E27FC236}">
                <a16:creationId xmlns:a16="http://schemas.microsoft.com/office/drawing/2014/main" id="{BDA2E444-F588-42C8-BEA3-A23530AE8103}"/>
              </a:ext>
            </a:extLst>
          </p:cNvPr>
          <p:cNvSpPr>
            <a:spLocks xmlns:a="http://schemas.openxmlformats.org/drawingml/2006/main" noGrp="1"/>
          </p:cNvSpPr>
          <p:nvPr/>
        </p:nvSpPr>
        <p:spPr>
          <a:xfrm xmlns:a="http://schemas.openxmlformats.org/drawingml/2006/main">
            <a:off x="1771650" y="2705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6637A"/>
                </a:solidFill>
                <a:latin typeface="DejaVu Sans"/>
                <a:ea typeface="DejaVu Sans"/>
                <a:cs typeface="DejaVu Sans"/>
              </a:defRPr>
            </a:pPr>
            <a:r>
              <a:rPr sz="1275" b="0">
                <a:solidFill>
                  <a:srgbClr val="56637A"/>
                </a:solidFill>
                <a:latin typeface="DejaVu Sans"/>
                <a:ea typeface="DejaVu Sans"/>
                <a:cs typeface="DejaVu Sans"/>
              </a:rPr>
              <a:t>Passing choice and accuracy</a:t>
            </a:r>
          </a:p>
        </p:txBody>
      </p:sp>
      <p:sp>
        <p:nvSpPr>
          <p:cNvPr id="11" name="">
            <a:extLst xmlns:a="http://schemas.openxmlformats.org/drawingml/2006/main">
              <a:ext uri="{FF2B5EF4-FFF2-40B4-BE49-F238E27FC236}">
                <a16:creationId xmlns:a16="http://schemas.microsoft.com/office/drawing/2014/main" id="{1D06BF6D-ED3B-4A3E-877F-ECA1533F8DAF}"/>
              </a:ext>
            </a:extLst>
          </p:cNvPr>
          <p:cNvSpPr>
            <a:spLocks xmlns:a="http://schemas.openxmlformats.org/drawingml/2006/main" noGrp="1"/>
          </p:cNvSpPr>
          <p:nvPr/>
        </p:nvSpPr>
        <p:spPr>
          <a:xfrm xmlns:a="http://schemas.openxmlformats.org/drawingml/2006/main">
            <a:off x="6286500" y="1619250"/>
            <a:ext cx="5238750" cy="1752600"/>
          </a:xfrm>
          <a:prstGeom xmlns:a="http://schemas.openxmlformats.org/drawingml/2006/main" prst="roundRect">
            <a:avLst>
              <a:gd name="adj" fmla="val 13043"/>
            </a:avLst>
          </a:prstGeom>
          <a:solidFill xmlns:a="http://schemas.openxmlformats.org/drawingml/2006/main">
            <a:srgbClr val="FDEB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1EB132-5648-49FF-B74B-47FFCFE54258}"/>
              </a:ext>
            </a:extLst>
          </p:cNvPr>
          <p:cNvSpPr>
            <a:spLocks xmlns:a="http://schemas.openxmlformats.org/drawingml/2006/main" noGrp="1"/>
          </p:cNvSpPr>
          <p:nvPr/>
        </p:nvSpPr>
        <p:spPr>
          <a:xfrm xmlns:a="http://schemas.openxmlformats.org/drawingml/2006/main">
            <a:off x="6553200" y="1885950"/>
            <a:ext cx="590550" cy="590550"/>
          </a:xfrm>
          <a:prstGeom xmlns:a="http://schemas.openxmlformats.org/drawingml/2006/main" prst="ellipse">
            <a:avLst/>
          </a:prstGeom>
          <a:solidFill xmlns:a="http://schemas.openxmlformats.org/drawingml/2006/main">
            <a:srgbClr val="E3232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2</a:t>
            </a:r>
          </a:p>
        </p:txBody>
      </p:sp>
      <p:sp>
        <p:nvSpPr>
          <p:cNvPr id="13" name="">
            <a:extLst xmlns:a="http://schemas.openxmlformats.org/drawingml/2006/main">
              <a:ext uri="{FF2B5EF4-FFF2-40B4-BE49-F238E27FC236}">
                <a16:creationId xmlns:a16="http://schemas.microsoft.com/office/drawing/2014/main" id="{E9464D93-414E-47EF-937C-B7F3B11A120B}"/>
              </a:ext>
            </a:extLst>
          </p:cNvPr>
          <p:cNvSpPr>
            <a:spLocks xmlns:a="http://schemas.openxmlformats.org/drawingml/2006/main" noGrp="1"/>
          </p:cNvSpPr>
          <p:nvPr/>
        </p:nvSpPr>
        <p:spPr>
          <a:xfrm xmlns:a="http://schemas.openxmlformats.org/drawingml/2006/main">
            <a:off x="7391400" y="18669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E3232E"/>
                </a:solidFill>
                <a:latin typeface="DejaVu Sans"/>
                <a:ea typeface="DejaVu Sans"/>
                <a:cs typeface="DejaVu Sans"/>
              </a:defRPr>
            </a:pPr>
            <a:r>
              <a:rPr sz="1200" b="1">
                <a:solidFill>
                  <a:srgbClr val="E3232E"/>
                </a:solidFill>
                <a:latin typeface="DejaVu Sans"/>
                <a:ea typeface="DejaVu Sans"/>
                <a:cs typeface="DejaVu Sans"/>
              </a:rPr>
              <a:t>AWARENESS</a:t>
            </a:r>
          </a:p>
        </p:txBody>
      </p:sp>
      <p:sp>
        <p:nvSpPr>
          <p:cNvPr id="14" name="">
            <a:extLst xmlns:a="http://schemas.openxmlformats.org/drawingml/2006/main">
              <a:ext uri="{FF2B5EF4-FFF2-40B4-BE49-F238E27FC236}">
                <a16:creationId xmlns:a16="http://schemas.microsoft.com/office/drawing/2014/main" id="{5FA6419C-95D4-42A4-9310-FF855AF5E1C2}"/>
              </a:ext>
            </a:extLst>
          </p:cNvPr>
          <p:cNvSpPr>
            <a:spLocks xmlns:a="http://schemas.openxmlformats.org/drawingml/2006/main" noGrp="1"/>
          </p:cNvSpPr>
          <p:nvPr/>
        </p:nvSpPr>
        <p:spPr>
          <a:xfrm xmlns:a="http://schemas.openxmlformats.org/drawingml/2006/main">
            <a:off x="7391400" y="23050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17233F"/>
                </a:solidFill>
                <a:latin typeface="DejaVu Sans"/>
                <a:ea typeface="DejaVu Sans"/>
                <a:cs typeface="DejaVu Sans"/>
              </a:defRPr>
            </a:pPr>
            <a:r>
              <a:rPr sz="1650" b="1">
                <a:solidFill>
                  <a:srgbClr val="17233F"/>
                </a:solidFill>
                <a:latin typeface="DejaVu Sans"/>
                <a:ea typeface="DejaVu Sans"/>
                <a:cs typeface="DejaVu Sans"/>
              </a:rPr>
              <a:t>Spacing and support</a:t>
            </a:r>
          </a:p>
        </p:txBody>
      </p:sp>
      <p:sp>
        <p:nvSpPr>
          <p:cNvPr id="15" name="">
            <a:extLst xmlns:a="http://schemas.openxmlformats.org/drawingml/2006/main">
              <a:ext uri="{FF2B5EF4-FFF2-40B4-BE49-F238E27FC236}">
                <a16:creationId xmlns:a16="http://schemas.microsoft.com/office/drawing/2014/main" id="{6BFE4C8C-401C-44B2-8FCF-3F90946A3650}"/>
              </a:ext>
            </a:extLst>
          </p:cNvPr>
          <p:cNvSpPr>
            <a:spLocks xmlns:a="http://schemas.openxmlformats.org/drawingml/2006/main" noGrp="1"/>
          </p:cNvSpPr>
          <p:nvPr/>
        </p:nvSpPr>
        <p:spPr>
          <a:xfrm xmlns:a="http://schemas.openxmlformats.org/drawingml/2006/main">
            <a:off x="7391400" y="2705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6637A"/>
                </a:solidFill>
                <a:latin typeface="DejaVu Sans"/>
                <a:ea typeface="DejaVu Sans"/>
                <a:cs typeface="DejaVu Sans"/>
              </a:defRPr>
            </a:pPr>
            <a:r>
              <a:rPr sz="1275" b="0">
                <a:solidFill>
                  <a:srgbClr val="56637A"/>
                </a:solidFill>
                <a:latin typeface="DejaVu Sans"/>
                <a:ea typeface="DejaVu Sans"/>
                <a:cs typeface="DejaVu Sans"/>
              </a:rPr>
              <a:t>Reaction when possession changes</a:t>
            </a:r>
          </a:p>
        </p:txBody>
      </p:sp>
      <p:sp>
        <p:nvSpPr>
          <p:cNvPr id="16" name="">
            <a:extLst xmlns:a="http://schemas.openxmlformats.org/drawingml/2006/main">
              <a:ext uri="{FF2B5EF4-FFF2-40B4-BE49-F238E27FC236}">
                <a16:creationId xmlns:a16="http://schemas.microsoft.com/office/drawing/2014/main" id="{ACC587E0-7EA4-4D34-BF32-FB0316B6B364}"/>
              </a:ext>
            </a:extLst>
          </p:cNvPr>
          <p:cNvSpPr>
            <a:spLocks xmlns:a="http://schemas.openxmlformats.org/drawingml/2006/main" noGrp="1"/>
          </p:cNvSpPr>
          <p:nvPr/>
        </p:nvSpPr>
        <p:spPr>
          <a:xfrm xmlns:a="http://schemas.openxmlformats.org/drawingml/2006/main">
            <a:off x="666750" y="3752850"/>
            <a:ext cx="5238750" cy="1752600"/>
          </a:xfrm>
          <a:prstGeom xmlns:a="http://schemas.openxmlformats.org/drawingml/2006/main" prst="roundRect">
            <a:avLst>
              <a:gd name="adj" fmla="val 13043"/>
            </a:avLst>
          </a:prstGeom>
          <a:solidFill xmlns:a="http://schemas.openxmlformats.org/drawingml/2006/main">
            <a:srgbClr val="EAF4E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4E7ADCE-193F-40AB-9DFE-01BAB3CEFC6C}"/>
              </a:ext>
            </a:extLst>
          </p:cNvPr>
          <p:cNvSpPr>
            <a:spLocks xmlns:a="http://schemas.openxmlformats.org/drawingml/2006/main" noGrp="1"/>
          </p:cNvSpPr>
          <p:nvPr/>
        </p:nvSpPr>
        <p:spPr>
          <a:xfrm xmlns:a="http://schemas.openxmlformats.org/drawingml/2006/main">
            <a:off x="933450" y="4019550"/>
            <a:ext cx="590550" cy="590550"/>
          </a:xfrm>
          <a:prstGeom xmlns:a="http://schemas.openxmlformats.org/drawingml/2006/main" prst="ellipse">
            <a:avLst/>
          </a:prstGeom>
          <a:solidFill xmlns:a="http://schemas.openxmlformats.org/drawingml/2006/main">
            <a:srgbClr val="3D765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3</a:t>
            </a:r>
          </a:p>
        </p:txBody>
      </p:sp>
      <p:sp>
        <p:nvSpPr>
          <p:cNvPr id="18" name="">
            <a:extLst xmlns:a="http://schemas.openxmlformats.org/drawingml/2006/main">
              <a:ext uri="{FF2B5EF4-FFF2-40B4-BE49-F238E27FC236}">
                <a16:creationId xmlns:a16="http://schemas.microsoft.com/office/drawing/2014/main" id="{911E22D2-3463-4004-B19F-298EE8E982F8}"/>
              </a:ext>
            </a:extLst>
          </p:cNvPr>
          <p:cNvSpPr>
            <a:spLocks xmlns:a="http://schemas.openxmlformats.org/drawingml/2006/main" noGrp="1"/>
          </p:cNvSpPr>
          <p:nvPr/>
        </p:nvSpPr>
        <p:spPr>
          <a:xfrm xmlns:a="http://schemas.openxmlformats.org/drawingml/2006/main">
            <a:off x="1771650" y="40005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D7658"/>
                </a:solidFill>
                <a:latin typeface="DejaVu Sans"/>
                <a:ea typeface="DejaVu Sans"/>
                <a:cs typeface="DejaVu Sans"/>
              </a:defRPr>
            </a:pPr>
            <a:r>
              <a:rPr sz="1200" b="1">
                <a:solidFill>
                  <a:srgbClr val="3D7658"/>
                </a:solidFill>
                <a:latin typeface="DejaVu Sans"/>
                <a:ea typeface="DejaVu Sans"/>
                <a:cs typeface="DejaVu Sans"/>
              </a:rPr>
              <a:t>GAME PACE</a:t>
            </a:r>
          </a:p>
        </p:txBody>
      </p:sp>
      <p:sp>
        <p:nvSpPr>
          <p:cNvPr id="19" name="">
            <a:extLst xmlns:a="http://schemas.openxmlformats.org/drawingml/2006/main">
              <a:ext uri="{FF2B5EF4-FFF2-40B4-BE49-F238E27FC236}">
                <a16:creationId xmlns:a16="http://schemas.microsoft.com/office/drawing/2014/main" id="{23BB73CE-3D83-40D1-A732-B56780567003}"/>
              </a:ext>
            </a:extLst>
          </p:cNvPr>
          <p:cNvSpPr>
            <a:spLocks xmlns:a="http://schemas.openxmlformats.org/drawingml/2006/main" noGrp="1"/>
          </p:cNvSpPr>
          <p:nvPr/>
        </p:nvSpPr>
        <p:spPr>
          <a:xfrm xmlns:a="http://schemas.openxmlformats.org/drawingml/2006/main">
            <a:off x="1771650" y="44386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17233F"/>
                </a:solidFill>
                <a:latin typeface="DejaVu Sans"/>
                <a:ea typeface="DejaVu Sans"/>
                <a:cs typeface="DejaVu Sans"/>
              </a:defRPr>
            </a:pPr>
            <a:r>
              <a:rPr sz="1650" b="1">
                <a:solidFill>
                  <a:srgbClr val="17233F"/>
                </a:solidFill>
                <a:latin typeface="DejaVu Sans"/>
                <a:ea typeface="DejaVu Sans"/>
                <a:cs typeface="DejaVu Sans"/>
              </a:rPr>
              <a:t>Stays connected to play</a:t>
            </a:r>
          </a:p>
        </p:txBody>
      </p:sp>
      <p:sp>
        <p:nvSpPr>
          <p:cNvPr id="20" name="">
            <a:extLst xmlns:a="http://schemas.openxmlformats.org/drawingml/2006/main">
              <a:ext uri="{FF2B5EF4-FFF2-40B4-BE49-F238E27FC236}">
                <a16:creationId xmlns:a16="http://schemas.microsoft.com/office/drawing/2014/main" id="{0CA2C64A-181C-42B3-B0D1-9071BD252FDE}"/>
              </a:ext>
            </a:extLst>
          </p:cNvPr>
          <p:cNvSpPr>
            <a:spLocks xmlns:a="http://schemas.openxmlformats.org/drawingml/2006/main" noGrp="1"/>
          </p:cNvSpPr>
          <p:nvPr/>
        </p:nvSpPr>
        <p:spPr>
          <a:xfrm xmlns:a="http://schemas.openxmlformats.org/drawingml/2006/main">
            <a:off x="1771650" y="48387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6637A"/>
                </a:solidFill>
                <a:latin typeface="DejaVu Sans"/>
                <a:ea typeface="DejaVu Sans"/>
                <a:cs typeface="DejaVu Sans"/>
              </a:defRPr>
            </a:pPr>
            <a:r>
              <a:rPr sz="1275" b="0">
                <a:solidFill>
                  <a:srgbClr val="56637A"/>
                </a:solidFill>
                <a:latin typeface="DejaVu Sans"/>
                <a:ea typeface="DejaVu Sans"/>
                <a:cs typeface="DejaVu Sans"/>
              </a:rPr>
              <a:t>Recovers and participates over time</a:t>
            </a:r>
          </a:p>
        </p:txBody>
      </p:sp>
      <p:sp>
        <p:nvSpPr>
          <p:cNvPr id="21" name="">
            <a:extLst xmlns:a="http://schemas.openxmlformats.org/drawingml/2006/main">
              <a:ext uri="{FF2B5EF4-FFF2-40B4-BE49-F238E27FC236}">
                <a16:creationId xmlns:a16="http://schemas.microsoft.com/office/drawing/2014/main" id="{AB4F631D-3A95-48FA-A3C3-225AA4E0CE41}"/>
              </a:ext>
            </a:extLst>
          </p:cNvPr>
          <p:cNvSpPr>
            <a:spLocks xmlns:a="http://schemas.openxmlformats.org/drawingml/2006/main" noGrp="1"/>
          </p:cNvSpPr>
          <p:nvPr/>
        </p:nvSpPr>
        <p:spPr>
          <a:xfrm xmlns:a="http://schemas.openxmlformats.org/drawingml/2006/main">
            <a:off x="6286500" y="3752850"/>
            <a:ext cx="5238750" cy="1752600"/>
          </a:xfrm>
          <a:prstGeom xmlns:a="http://schemas.openxmlformats.org/drawingml/2006/main" prst="roundRect">
            <a:avLst>
              <a:gd name="adj" fmla="val 13043"/>
            </a:avLst>
          </a:prstGeom>
          <a:solidFill xmlns:a="http://schemas.openxmlformats.org/drawingml/2006/main">
            <a:srgbClr val="FBF3D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0841B54-3DD6-417A-810B-61A11657F873}"/>
              </a:ext>
            </a:extLst>
          </p:cNvPr>
          <p:cNvSpPr>
            <a:spLocks xmlns:a="http://schemas.openxmlformats.org/drawingml/2006/main" noGrp="1"/>
          </p:cNvSpPr>
          <p:nvPr/>
        </p:nvSpPr>
        <p:spPr>
          <a:xfrm xmlns:a="http://schemas.openxmlformats.org/drawingml/2006/main">
            <a:off x="6553200" y="4019550"/>
            <a:ext cx="590550" cy="590550"/>
          </a:xfrm>
          <a:prstGeom xmlns:a="http://schemas.openxmlformats.org/drawingml/2006/main" prst="ellipse">
            <a:avLst/>
          </a:prstGeom>
          <a:solidFill xmlns:a="http://schemas.openxmlformats.org/drawingml/2006/main">
            <a:srgbClr val="8B651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4</a:t>
            </a:r>
          </a:p>
        </p:txBody>
      </p:sp>
      <p:sp>
        <p:nvSpPr>
          <p:cNvPr id="23" name="">
            <a:extLst xmlns:a="http://schemas.openxmlformats.org/drawingml/2006/main">
              <a:ext uri="{FF2B5EF4-FFF2-40B4-BE49-F238E27FC236}">
                <a16:creationId xmlns:a16="http://schemas.microsoft.com/office/drawing/2014/main" id="{A2F06C89-194E-43E0-B3DD-212321616777}"/>
              </a:ext>
            </a:extLst>
          </p:cNvPr>
          <p:cNvSpPr>
            <a:spLocks xmlns:a="http://schemas.openxmlformats.org/drawingml/2006/main" noGrp="1"/>
          </p:cNvSpPr>
          <p:nvPr/>
        </p:nvSpPr>
        <p:spPr>
          <a:xfrm xmlns:a="http://schemas.openxmlformats.org/drawingml/2006/main">
            <a:off x="7391400" y="40005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8B6518"/>
                </a:solidFill>
                <a:latin typeface="DejaVu Sans"/>
                <a:ea typeface="DejaVu Sans"/>
                <a:cs typeface="DejaVu Sans"/>
              </a:defRPr>
            </a:pPr>
            <a:r>
              <a:rPr sz="1200" b="1">
                <a:solidFill>
                  <a:srgbClr val="8B6518"/>
                </a:solidFill>
                <a:latin typeface="DejaVu Sans"/>
                <a:ea typeface="DejaVu Sans"/>
                <a:cs typeface="DejaVu Sans"/>
              </a:rPr>
              <a:t>ENGAGEMENT</a:t>
            </a:r>
          </a:p>
        </p:txBody>
      </p:sp>
      <p:sp>
        <p:nvSpPr>
          <p:cNvPr id="24" name="">
            <a:extLst xmlns:a="http://schemas.openxmlformats.org/drawingml/2006/main">
              <a:ext uri="{FF2B5EF4-FFF2-40B4-BE49-F238E27FC236}">
                <a16:creationId xmlns:a16="http://schemas.microsoft.com/office/drawing/2014/main" id="{0061DE52-90AC-47DC-BCE9-D83C47563052}"/>
              </a:ext>
            </a:extLst>
          </p:cNvPr>
          <p:cNvSpPr>
            <a:spLocks xmlns:a="http://schemas.openxmlformats.org/drawingml/2006/main" noGrp="1"/>
          </p:cNvSpPr>
          <p:nvPr/>
        </p:nvSpPr>
        <p:spPr>
          <a:xfrm xmlns:a="http://schemas.openxmlformats.org/drawingml/2006/main">
            <a:off x="7391400" y="44386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17233F"/>
                </a:solidFill>
                <a:latin typeface="DejaVu Sans"/>
                <a:ea typeface="DejaVu Sans"/>
                <a:cs typeface="DejaVu Sans"/>
              </a:defRPr>
            </a:pPr>
            <a:r>
              <a:rPr sz="1650" b="1">
                <a:solidFill>
                  <a:srgbClr val="17233F"/>
                </a:solidFill>
                <a:latin typeface="DejaVu Sans"/>
                <a:ea typeface="DejaVu Sans"/>
                <a:cs typeface="DejaVu Sans"/>
              </a:rPr>
              <a:t>Approaches routine challenges</a:t>
            </a:r>
          </a:p>
        </p:txBody>
      </p:sp>
      <p:sp>
        <p:nvSpPr>
          <p:cNvPr id="25" name="">
            <a:extLst xmlns:a="http://schemas.openxmlformats.org/drawingml/2006/main">
              <a:ext uri="{FF2B5EF4-FFF2-40B4-BE49-F238E27FC236}">
                <a16:creationId xmlns:a16="http://schemas.microsoft.com/office/drawing/2014/main" id="{0774852E-6334-46EA-AD76-13647E9179A2}"/>
              </a:ext>
            </a:extLst>
          </p:cNvPr>
          <p:cNvSpPr>
            <a:spLocks xmlns:a="http://schemas.openxmlformats.org/drawingml/2006/main" noGrp="1"/>
          </p:cNvSpPr>
          <p:nvPr/>
        </p:nvSpPr>
        <p:spPr>
          <a:xfrm xmlns:a="http://schemas.openxmlformats.org/drawingml/2006/main">
            <a:off x="7391400" y="48387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6637A"/>
                </a:solidFill>
                <a:latin typeface="DejaVu Sans"/>
                <a:ea typeface="DejaVu Sans"/>
                <a:cs typeface="DejaVu Sans"/>
              </a:defRPr>
            </a:pPr>
            <a:r>
              <a:rPr sz="1275" b="0">
                <a:solidFill>
                  <a:srgbClr val="56637A"/>
                </a:solidFill>
                <a:latin typeface="DejaVu Sans"/>
                <a:ea typeface="DejaVu Sans"/>
                <a:cs typeface="DejaVu Sans"/>
              </a:rPr>
              <a:t>Competes safely and keeps trying</a:t>
            </a:r>
          </a:p>
        </p:txBody>
      </p:sp>
      <p:sp>
        <p:nvSpPr>
          <p:cNvPr id="26" name="">
            <a:extLst xmlns:a="http://schemas.openxmlformats.org/drawingml/2006/main">
              <a:ext uri="{FF2B5EF4-FFF2-40B4-BE49-F238E27FC236}">
                <a16:creationId xmlns:a16="http://schemas.microsoft.com/office/drawing/2014/main" id="{2A6A1BB1-942F-4ACE-B1ED-1762C7ECCE90}"/>
              </a:ext>
            </a:extLst>
          </p:cNvPr>
          <p:cNvSpPr>
            <a:spLocks xmlns:a="http://schemas.openxmlformats.org/drawingml/2006/main" noGrp="1"/>
          </p:cNvSpPr>
          <p:nvPr/>
        </p:nvSpPr>
        <p:spPr>
          <a:xfrm xmlns:a="http://schemas.openxmlformats.org/drawingml/2006/main">
            <a:off x="2152650" y="6076950"/>
            <a:ext cx="788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lgn="ctr">
              <a:defRPr sz="1275" b="1">
                <a:solidFill>
                  <a:srgbClr val="1E3265"/>
                </a:solidFill>
                <a:latin typeface="DejaVu Sans"/>
                <a:ea typeface="DejaVu Sans"/>
                <a:cs typeface="DejaVu Sans"/>
              </a:defRPr>
            </a:pPr>
            <a:r>
              <a:rPr sz="1275" b="1">
                <a:solidFill>
                  <a:srgbClr val="1E3265"/>
                </a:solidFill>
                <a:latin typeface="DejaVu Sans"/>
                <a:ea typeface="DejaVu Sans"/>
                <a:cs typeface="DejaVu Sans"/>
              </a:rPr>
              <a:t>Goalkeeping: evaluate only from observed goalkeeper opportunities</a:t>
            </a:r>
          </a:p>
        </p:txBody>
      </p:sp>
      <p:sp>
        <p:nvSpPr>
          <p:cNvPr id="27" name="">
            <a:extLst xmlns:a="http://schemas.openxmlformats.org/drawingml/2006/main">
              <a:ext uri="{FF2B5EF4-FFF2-40B4-BE49-F238E27FC236}">
                <a16:creationId xmlns:a16="http://schemas.microsoft.com/office/drawing/2014/main" id="{7D9C5F2A-991E-4972-928A-61EA60C2C4DC}"/>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56637A"/>
                </a:solidFill>
                <a:latin typeface="DejaVu Sans"/>
                <a:ea typeface="DejaVu Sans"/>
                <a:cs typeface="DejaVu Sans"/>
              </a:defRPr>
            </a:pPr>
            <a:r>
              <a:rPr sz="825" b="0">
                <a:solidFill>
                  <a:srgbClr val="56637A"/>
                </a:solidFill>
                <a:latin typeface="DejaVu Sans"/>
                <a:ea typeface="DejaVu Sans"/>
                <a:cs typeface="DejaVu Sans"/>
              </a:rPr>
              <a:t>Cypress AYSO Region 154  |  6</a:t>
            </a:r>
          </a:p>
        </p:txBody>
      </p:sp>
    </p:spTree>
    <p:extLst>
      <p:ext uri="{BB962C8B-B14F-4D97-AF65-F5344CB8AC3E}">
        <p14:creationId xmlns:p14="http://schemas.microsoft.com/office/powerpoint/2010/main" val="7851824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p:cNvCxnSpPr>
            <a:stCxn xmlns:a="http://schemas.openxmlformats.org/drawingml/2006/main" id="9" idx="2"/>
            <a:endCxn xmlns:a="http://schemas.openxmlformats.org/drawingml/2006/main" id="11" idx="0"/>
          </p:cNvCxnSpPr>
          <p:nvPr/>
        </p:nvCxnSpPr>
        <p:spPr>
          <a:xfrm xmlns:a="http://schemas.openxmlformats.org/drawingml/2006/main">
            <a:off x="10172700" y="5353050"/>
            <a:ext cx="419100" cy="57150"/>
          </a:xfrm>
          <a:prstGeom xmlns:a="http://schemas.openxmlformats.org/drawingml/2006/main" prst="straightConnector1">
            <a:avLst/>
          </a:prstGeom>
          <a:ln xmlns:a="http://schemas.openxmlformats.org/drawingml/2006/main" w="28575">
            <a:solidFill>
              <a:srgbClr val="E3232E"/>
            </a:solidFill>
            <a:headEnd type="arrow" w="med" len="med"/>
          </a:ln>
        </p:spPr>
      </p:cxnSp>
      <p:cxnSp>
        <p:nvCxnSpPr>
          <p:cNvPr id="16" name=""/>
          <p:cNvCxnSpPr>
            <a:stCxn xmlns:a="http://schemas.openxmlformats.org/drawingml/2006/main" id="5" idx="2"/>
            <a:endCxn xmlns:a="http://schemas.openxmlformats.org/drawingml/2006/main" id="7" idx="0"/>
          </p:cNvCxnSpPr>
          <p:nvPr/>
        </p:nvCxnSpPr>
        <p:spPr>
          <a:xfrm xmlns:a="http://schemas.openxmlformats.org/drawingml/2006/main" flipH="1">
            <a:off x="7991475" y="2952750"/>
            <a:ext cx="647700" cy="590550"/>
          </a:xfrm>
          <a:prstGeom xmlns:a="http://schemas.openxmlformats.org/drawingml/2006/main" prst="straightConnector1">
            <a:avLst/>
          </a:prstGeom>
          <a:ln xmlns:a="http://schemas.openxmlformats.org/drawingml/2006/main" w="28575">
            <a:solidFill>
              <a:srgbClr val="E3232E"/>
            </a:solidFill>
            <a:headEnd type="arrow" w="med" len="med"/>
          </a:ln>
        </p:spPr>
      </p:cxn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edec9363cad4e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4CCA64-0D6F-4041-8E70-7E902E3CCA63}"/>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E326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A90223-DE82-4254-B05F-BA7F3357644F}"/>
              </a:ext>
            </a:extLst>
          </p:cNvPr>
          <p:cNvSpPr>
            <a:spLocks xmlns:a="http://schemas.openxmlformats.org/drawingml/2006/main" noGrp="1"/>
          </p:cNvSpPr>
          <p:nvPr/>
        </p:nvSpPr>
        <p:spPr>
          <a:xfrm xmlns:a="http://schemas.openxmlformats.org/drawingml/2006/main">
            <a:off x="609600" y="285750"/>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defRPr sz="2850" b="1">
                <a:solidFill>
                  <a:srgbClr val="FFFFFF"/>
                </a:solidFill>
                <a:latin typeface="DejaVu Sans"/>
                <a:ea typeface="DejaVu Sans"/>
                <a:cs typeface="DejaVu Sans"/>
              </a:defRPr>
            </a:pPr>
            <a:r>
              <a:rPr sz="2850" b="1">
                <a:solidFill>
                  <a:srgbClr val="FFFFFF"/>
                </a:solidFill>
                <a:latin typeface="DejaVu Sans"/>
                <a:ea typeface="DejaVu Sans"/>
                <a:cs typeface="DejaVu Sans"/>
              </a:rPr>
              <a:t>Look beyond the ball</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68bb7dd1f8d4899"/>
          <a:stretch xmlns:a="http://schemas.openxmlformats.org/drawingml/2006/main"/>
        </p:blipFill>
        <p:spPr>
          <a:xfrm xmlns:a="http://schemas.openxmlformats.org/drawingml/2006/main">
            <a:off x="10915650" y="17145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A5533E-EEE4-49BF-9C68-BEEF6689A8D7}"/>
              </a:ext>
            </a:extLst>
          </p:cNvPr>
          <p:cNvSpPr>
            <a:spLocks xmlns:a="http://schemas.openxmlformats.org/drawingml/2006/main" noGrp="1"/>
          </p:cNvSpPr>
          <p:nvPr/>
        </p:nvSpPr>
        <p:spPr>
          <a:xfrm xmlns:a="http://schemas.openxmlformats.org/drawingml/2006/main">
            <a:off x="7239000" y="2228850"/>
            <a:ext cx="280035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1E3265"/>
            </a:solidFill>
          </a:ln>
        </p:spPr>
      </p:sp>
      <p:sp>
        <p:nvSpPr>
          <p:cNvPr id="6" name="">
            <a:extLst xmlns:a="http://schemas.openxmlformats.org/drawingml/2006/main">
              <a:ext uri="{FF2B5EF4-FFF2-40B4-BE49-F238E27FC236}">
                <a16:creationId xmlns:a16="http://schemas.microsoft.com/office/drawing/2014/main" id="{D4C2C6C1-5DC7-4048-BC06-269C1AA46DF8}"/>
              </a:ext>
            </a:extLst>
          </p:cNvPr>
          <p:cNvSpPr>
            <a:spLocks xmlns:a="http://schemas.openxmlformats.org/drawingml/2006/main" noGrp="1"/>
          </p:cNvSpPr>
          <p:nvPr/>
        </p:nvSpPr>
        <p:spPr>
          <a:xfrm xmlns:a="http://schemas.openxmlformats.org/drawingml/2006/main">
            <a:off x="7448550" y="23336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358"/>
          </a:bodyPr>
          <a:lstStyle xmlns:a="http://schemas.openxmlformats.org/drawingml/2006/main"/>
          <a:p xmlns:a="http://schemas.openxmlformats.org/drawingml/2006/main">
            <a:pPr algn="ctr">
              <a:defRPr sz="1350" b="1">
                <a:solidFill>
                  <a:srgbClr val="1E3265"/>
                </a:solidFill>
                <a:latin typeface="DejaVu Sans"/>
                <a:ea typeface="DejaVu Sans"/>
                <a:cs typeface="DejaVu Sans"/>
              </a:defRPr>
            </a:pPr>
            <a:r>
              <a:rPr sz="1350" b="1">
                <a:solidFill>
                  <a:srgbClr val="1E3265"/>
                </a:solidFill>
                <a:latin typeface="DejaVu Sans"/>
                <a:ea typeface="DejaVu Sans"/>
                <a:cs typeface="DejaVu Sans"/>
              </a:rPr>
              <a:t>Support run</a:t>
            </a:r>
          </a:p>
          <a:p xmlns:a="http://schemas.openxmlformats.org/drawingml/2006/main">
            <a:pPr algn="ctr">
              <a:defRPr sz="1350" b="1">
                <a:solidFill>
                  <a:srgbClr val="1E3265"/>
                </a:solidFill>
                <a:latin typeface="DejaVu Sans"/>
                <a:ea typeface="DejaVu Sans"/>
                <a:cs typeface="DejaVu Sans"/>
              </a:defRPr>
            </a:pPr>
            <a:r>
              <a:rPr sz="1350" b="1">
                <a:solidFill>
                  <a:srgbClr val="1E3265"/>
                </a:solidFill>
                <a:latin typeface="DejaVu Sans"/>
                <a:ea typeface="DejaVu Sans"/>
                <a:cs typeface="DejaVu Sans"/>
              </a:rPr>
              <a:t>Moves into useful space</a:t>
            </a:r>
          </a:p>
        </p:txBody>
      </p:sp>
      <p:sp>
        <p:nvSpPr>
          <p:cNvPr id="7" name="">
            <a:extLst xmlns:a="http://schemas.openxmlformats.org/drawingml/2006/main">
              <a:ext uri="{FF2B5EF4-FFF2-40B4-BE49-F238E27FC236}">
                <a16:creationId xmlns:a16="http://schemas.microsoft.com/office/drawing/2014/main" id="{7CE64CEF-838F-409E-A52A-B8A8FED2179A}"/>
              </a:ext>
            </a:extLst>
          </p:cNvPr>
          <p:cNvSpPr>
            <a:spLocks xmlns:a="http://schemas.openxmlformats.org/drawingml/2006/main" noGrp="1"/>
          </p:cNvSpPr>
          <p:nvPr/>
        </p:nvSpPr>
        <p:spPr>
          <a:xfrm xmlns:a="http://schemas.openxmlformats.org/drawingml/2006/main">
            <a:off x="7829550" y="3543300"/>
            <a:ext cx="323850" cy="323850"/>
          </a:xfrm>
          <a:prstGeom xmlns:a="http://schemas.openxmlformats.org/drawingml/2006/main" prst="ellipse">
            <a:avLst/>
          </a:prstGeom>
          <a:noFill xmlns:a="http://schemas.openxmlformats.org/drawingml/2006/main"/>
          <a:ln xmlns:a="http://schemas.openxmlformats.org/drawingml/2006/main" w="38100">
            <a:solidFill>
              <a:srgbClr val="E3232E"/>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E0C027C3-A5B2-47BB-A6C4-7A900CB28970}"/>
              </a:ext>
            </a:extLst>
          </p:cNvPr>
          <p:cNvSpPr>
            <a:spLocks xmlns:a="http://schemas.openxmlformats.org/drawingml/2006/main" noGrp="1"/>
          </p:cNvSpPr>
          <p:nvPr/>
        </p:nvSpPr>
        <p:spPr>
          <a:xfrm xmlns:a="http://schemas.openxmlformats.org/drawingml/2006/main">
            <a:off x="8858250" y="4629150"/>
            <a:ext cx="26289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1E3265"/>
            </a:solidFill>
          </a:ln>
        </p:spPr>
      </p:sp>
      <p:sp>
        <p:nvSpPr>
          <p:cNvPr id="10" name="">
            <a:extLst xmlns:a="http://schemas.openxmlformats.org/drawingml/2006/main">
              <a:ext uri="{FF2B5EF4-FFF2-40B4-BE49-F238E27FC236}">
                <a16:creationId xmlns:a16="http://schemas.microsoft.com/office/drawing/2014/main" id="{B9951DF5-2B70-41C5-81F5-1585A0E51C40}"/>
              </a:ext>
            </a:extLst>
          </p:cNvPr>
          <p:cNvSpPr>
            <a:spLocks xmlns:a="http://schemas.openxmlformats.org/drawingml/2006/main" noGrp="1"/>
          </p:cNvSpPr>
          <p:nvPr/>
        </p:nvSpPr>
        <p:spPr>
          <a:xfrm xmlns:a="http://schemas.openxmlformats.org/drawingml/2006/main">
            <a:off x="9048750" y="4733925"/>
            <a:ext cx="2247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247"/>
          </a:bodyPr>
          <a:lstStyle xmlns:a="http://schemas.openxmlformats.org/drawingml/2006/main"/>
          <a:p xmlns:a="http://schemas.openxmlformats.org/drawingml/2006/main">
            <a:pPr algn="ctr">
              <a:defRPr sz="1350" b="1">
                <a:solidFill>
                  <a:srgbClr val="1E3265"/>
                </a:solidFill>
                <a:latin typeface="DejaVu Sans"/>
                <a:ea typeface="DejaVu Sans"/>
                <a:cs typeface="DejaVu Sans"/>
              </a:defRPr>
            </a:pPr>
            <a:r>
              <a:rPr sz="1350" b="1">
                <a:solidFill>
                  <a:srgbClr val="1E3265"/>
                </a:solidFill>
                <a:latin typeface="DejaVu Sans"/>
                <a:ea typeface="DejaVu Sans"/>
                <a:cs typeface="DejaVu Sans"/>
              </a:rPr>
              <a:t>Recovery run</a:t>
            </a:r>
          </a:p>
          <a:p xmlns:a="http://schemas.openxmlformats.org/drawingml/2006/main">
            <a:pPr algn="ctr">
              <a:defRPr sz="1350" b="1">
                <a:solidFill>
                  <a:srgbClr val="1E3265"/>
                </a:solidFill>
                <a:latin typeface="DejaVu Sans"/>
                <a:ea typeface="DejaVu Sans"/>
                <a:cs typeface="DejaVu Sans"/>
              </a:defRPr>
            </a:pPr>
            <a:r>
              <a:rPr sz="1350" b="1">
                <a:solidFill>
                  <a:srgbClr val="1E3265"/>
                </a:solidFill>
                <a:latin typeface="DejaVu Sans"/>
                <a:ea typeface="DejaVu Sans"/>
                <a:cs typeface="DejaVu Sans"/>
              </a:rPr>
              <a:t>Responds after a turnover</a:t>
            </a:r>
          </a:p>
        </p:txBody>
      </p:sp>
      <p:sp>
        <p:nvSpPr>
          <p:cNvPr id="11" name="">
            <a:extLst xmlns:a="http://schemas.openxmlformats.org/drawingml/2006/main">
              <a:ext uri="{FF2B5EF4-FFF2-40B4-BE49-F238E27FC236}">
                <a16:creationId xmlns:a16="http://schemas.microsoft.com/office/drawing/2014/main" id="{BFB465FF-B628-45C0-8325-38D3D4016F06}"/>
              </a:ext>
            </a:extLst>
          </p:cNvPr>
          <p:cNvSpPr>
            <a:spLocks xmlns:a="http://schemas.openxmlformats.org/drawingml/2006/main" noGrp="1"/>
          </p:cNvSpPr>
          <p:nvPr/>
        </p:nvSpPr>
        <p:spPr>
          <a:xfrm xmlns:a="http://schemas.openxmlformats.org/drawingml/2006/main">
            <a:off x="10429875" y="5410200"/>
            <a:ext cx="323850" cy="323850"/>
          </a:xfrm>
          <a:prstGeom xmlns:a="http://schemas.openxmlformats.org/drawingml/2006/main" prst="ellipse">
            <a:avLst/>
          </a:prstGeom>
          <a:noFill xmlns:a="http://schemas.openxmlformats.org/drawingml/2006/main"/>
          <a:ln xmlns:a="http://schemas.openxmlformats.org/drawingml/2006/main" w="38100">
            <a:solidFill>
              <a:srgbClr val="E3232E"/>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7D0688CA-5BCA-44E7-83AA-3D1A8DA930A0}"/>
              </a:ext>
            </a:extLst>
          </p:cNvPr>
          <p:cNvSpPr>
            <a:spLocks xmlns:a="http://schemas.openxmlformats.org/drawingml/2006/main" noGrp="1"/>
          </p:cNvSpPr>
          <p:nvPr/>
        </p:nvSpPr>
        <p:spPr>
          <a:xfrm xmlns:a="http://schemas.openxmlformats.org/drawingml/2006/main">
            <a:off x="342900" y="5676900"/>
            <a:ext cx="53340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107CFC-DF8C-4261-8A7A-086DDA33E689}"/>
              </a:ext>
            </a:extLst>
          </p:cNvPr>
          <p:cNvSpPr>
            <a:spLocks xmlns:a="http://schemas.openxmlformats.org/drawingml/2006/main" noGrp="1"/>
          </p:cNvSpPr>
          <p:nvPr/>
        </p:nvSpPr>
        <p:spPr>
          <a:xfrm xmlns:a="http://schemas.openxmlformats.org/drawingml/2006/main">
            <a:off x="552450" y="5819775"/>
            <a:ext cx="4914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152"/>
          </a:bodyPr>
          <a:lstStyle xmlns:a="http://schemas.openxmlformats.org/drawingml/2006/main"/>
          <a:p xmlns:a="http://schemas.openxmlformats.org/drawingml/2006/main">
            <a:pPr algn="ctr">
              <a:defRPr sz="1650" b="1">
                <a:solidFill>
                  <a:srgbClr val="17233F"/>
                </a:solidFill>
                <a:latin typeface="DejaVu Sans"/>
                <a:ea typeface="DejaVu Sans"/>
                <a:cs typeface="DejaVu Sans"/>
              </a:defRPr>
            </a:pPr>
            <a:r>
              <a:rPr sz="1650" b="1">
                <a:solidFill>
                  <a:srgbClr val="17233F"/>
                </a:solidFill>
                <a:latin typeface="DejaVu Sans"/>
                <a:ea typeface="DejaVu Sans"/>
                <a:cs typeface="DejaVu Sans"/>
              </a:rPr>
              <a:t>A player can affect the game without touching the ball</a:t>
            </a:r>
          </a:p>
        </p:txBody>
      </p:sp>
    </p:spTree>
    <p:extLst>
      <p:ext uri="{BB962C8B-B14F-4D97-AF65-F5344CB8AC3E}">
        <p14:creationId xmlns:p14="http://schemas.microsoft.com/office/powerpoint/2010/main" val="1341860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fdb9a3816894ad1"/>
          <a:srcRect xmlns:a="http://schemas.openxmlformats.org/drawingml/2006/main" l="27644" t="0" r="27644" b="0"/>
          <a:stretch xmlns:a="http://schemas.openxmlformats.org/drawingml/2006/main">
            <a:fillRect l="0" t="0" r="0" b="0"/>
          </a:stretch>
        </p:blipFill>
        <p:spPr>
          <a:xfrm xmlns:a="http://schemas.openxmlformats.org/drawingml/2006/main">
            <a:off x="6743700" y="0"/>
            <a:ext cx="54483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51A6D0-378F-4425-9124-257982FC88FC}"/>
              </a:ext>
            </a:extLst>
          </p:cNvPr>
          <p:cNvSpPr>
            <a:spLocks xmlns:a="http://schemas.openxmlformats.org/drawingml/2006/main" noGrp="1"/>
          </p:cNvSpPr>
          <p:nvPr/>
        </p:nvSpPr>
        <p:spPr>
          <a:xfrm xmlns:a="http://schemas.openxmlformats.org/drawingml/2006/main">
            <a:off x="0" y="0"/>
            <a:ext cx="691515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E8A096-263C-4E44-9405-F9F534AD784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534EAE-6034-4750-B94F-64E6E9F559B6}"/>
              </a:ext>
            </a:extLst>
          </p:cNvPr>
          <p:cNvSpPr>
            <a:spLocks xmlns:a="http://schemas.openxmlformats.org/drawingml/2006/main" noGrp="1"/>
          </p:cNvSpPr>
          <p:nvPr/>
        </p:nvSpPr>
        <p:spPr>
          <a:xfrm xmlns:a="http://schemas.openxmlformats.org/drawingml/2006/main">
            <a:off x="609600" y="495300"/>
            <a:ext cx="565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E3265"/>
                </a:solidFill>
                <a:latin typeface="DejaVu Sans"/>
                <a:ea typeface="DejaVu Sans"/>
                <a:cs typeface="DejaVu Sans"/>
              </a:defRPr>
            </a:pPr>
            <a:r>
              <a:rPr sz="2700" b="1">
                <a:solidFill>
                  <a:srgbClr val="1E3265"/>
                </a:solidFill>
                <a:latin typeface="DejaVu Sans"/>
                <a:ea typeface="DejaVu Sans"/>
                <a:cs typeface="DejaVu Sans"/>
              </a:rPr>
              <a:t>A practical sideline routine</a:t>
            </a:r>
          </a:p>
        </p:txBody>
      </p:sp>
      <p:sp>
        <p:nvSpPr>
          <p:cNvPr id="5" name="">
            <a:extLst xmlns:a="http://schemas.openxmlformats.org/drawingml/2006/main">
              <a:ext uri="{FF2B5EF4-FFF2-40B4-BE49-F238E27FC236}">
                <a16:creationId xmlns:a16="http://schemas.microsoft.com/office/drawing/2014/main" id="{DB0E8ED8-9B0D-4B51-98A3-E90251AC34FC}"/>
              </a:ext>
            </a:extLst>
          </p:cNvPr>
          <p:cNvSpPr>
            <a:spLocks xmlns:a="http://schemas.openxmlformats.org/drawingml/2006/main" noGrp="1"/>
          </p:cNvSpPr>
          <p:nvPr/>
        </p:nvSpPr>
        <p:spPr>
          <a:xfrm xmlns:a="http://schemas.openxmlformats.org/drawingml/2006/main">
            <a:off x="628650" y="1447800"/>
            <a:ext cx="552450" cy="5524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19F0C235-47A5-4FE5-BA49-375263F0BCBC}"/>
              </a:ext>
            </a:extLst>
          </p:cNvPr>
          <p:cNvSpPr>
            <a:spLocks xmlns:a="http://schemas.openxmlformats.org/drawingml/2006/main" noGrp="1"/>
          </p:cNvSpPr>
          <p:nvPr/>
        </p:nvSpPr>
        <p:spPr>
          <a:xfrm xmlns:a="http://schemas.openxmlformats.org/drawingml/2006/main">
            <a:off x="1428750" y="14287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Focus</a:t>
            </a:r>
          </a:p>
        </p:txBody>
      </p:sp>
      <p:sp>
        <p:nvSpPr>
          <p:cNvPr id="7" name="">
            <a:extLst xmlns:a="http://schemas.openxmlformats.org/drawingml/2006/main">
              <a:ext uri="{FF2B5EF4-FFF2-40B4-BE49-F238E27FC236}">
                <a16:creationId xmlns:a16="http://schemas.microsoft.com/office/drawing/2014/main" id="{53A2E996-E305-499D-AC48-6E547598A1EC}"/>
              </a:ext>
            </a:extLst>
          </p:cNvPr>
          <p:cNvSpPr>
            <a:spLocks xmlns:a="http://schemas.openxmlformats.org/drawingml/2006/main" noGrp="1"/>
          </p:cNvSpPr>
          <p:nvPr/>
        </p:nvSpPr>
        <p:spPr>
          <a:xfrm xmlns:a="http://schemas.openxmlformats.org/drawingml/2006/main">
            <a:off x="1428750" y="1809750"/>
            <a:ext cx="472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Watch two or three players for several minutes.</a:t>
            </a:r>
          </a:p>
        </p:txBody>
      </p:sp>
      <p:sp>
        <p:nvSpPr>
          <p:cNvPr id="8" name="">
            <a:extLst xmlns:a="http://schemas.openxmlformats.org/drawingml/2006/main">
              <a:ext uri="{FF2B5EF4-FFF2-40B4-BE49-F238E27FC236}">
                <a16:creationId xmlns:a16="http://schemas.microsoft.com/office/drawing/2014/main" id="{8C25141F-530C-4ED7-8DB7-3FDECF2B001B}"/>
              </a:ext>
            </a:extLst>
          </p:cNvPr>
          <p:cNvSpPr>
            <a:spLocks xmlns:a="http://schemas.openxmlformats.org/drawingml/2006/main" noGrp="1"/>
          </p:cNvSpPr>
          <p:nvPr/>
        </p:nvSpPr>
        <p:spPr>
          <a:xfrm xmlns:a="http://schemas.openxmlformats.org/drawingml/2006/main">
            <a:off x="628650" y="2590800"/>
            <a:ext cx="552450" cy="5524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1C8D8FC1-DC7D-4C57-B9B0-98A68C3B3AD7}"/>
              </a:ext>
            </a:extLst>
          </p:cNvPr>
          <p:cNvSpPr>
            <a:spLocks xmlns:a="http://schemas.openxmlformats.org/drawingml/2006/main" noGrp="1"/>
          </p:cNvSpPr>
          <p:nvPr/>
        </p:nvSpPr>
        <p:spPr>
          <a:xfrm xmlns:a="http://schemas.openxmlformats.org/drawingml/2006/main">
            <a:off x="1428750" y="25717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Observe</a:t>
            </a:r>
          </a:p>
        </p:txBody>
      </p:sp>
      <p:sp>
        <p:nvSpPr>
          <p:cNvPr id="10" name="">
            <a:extLst xmlns:a="http://schemas.openxmlformats.org/drawingml/2006/main">
              <a:ext uri="{FF2B5EF4-FFF2-40B4-BE49-F238E27FC236}">
                <a16:creationId xmlns:a16="http://schemas.microsoft.com/office/drawing/2014/main" id="{A4ED3FFF-78FB-4079-8F35-B41A068286F5}"/>
              </a:ext>
            </a:extLst>
          </p:cNvPr>
          <p:cNvSpPr>
            <a:spLocks xmlns:a="http://schemas.openxmlformats.org/drawingml/2006/main" noGrp="1"/>
          </p:cNvSpPr>
          <p:nvPr/>
        </p:nvSpPr>
        <p:spPr>
          <a:xfrm xmlns:a="http://schemas.openxmlformats.org/drawingml/2006/main">
            <a:off x="1428750" y="2952750"/>
            <a:ext cx="472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Notice both on-ball and off-ball actions.</a:t>
            </a:r>
          </a:p>
        </p:txBody>
      </p:sp>
      <p:sp>
        <p:nvSpPr>
          <p:cNvPr id="11" name="">
            <a:extLst xmlns:a="http://schemas.openxmlformats.org/drawingml/2006/main">
              <a:ext uri="{FF2B5EF4-FFF2-40B4-BE49-F238E27FC236}">
                <a16:creationId xmlns:a16="http://schemas.microsoft.com/office/drawing/2014/main" id="{02B5B94D-00DC-4D2F-BA7D-660FD23DBE69}"/>
              </a:ext>
            </a:extLst>
          </p:cNvPr>
          <p:cNvSpPr>
            <a:spLocks xmlns:a="http://schemas.openxmlformats.org/drawingml/2006/main" noGrp="1"/>
          </p:cNvSpPr>
          <p:nvPr/>
        </p:nvSpPr>
        <p:spPr>
          <a:xfrm xmlns:a="http://schemas.openxmlformats.org/drawingml/2006/main">
            <a:off x="628650" y="3733800"/>
            <a:ext cx="552450" cy="552450"/>
          </a:xfrm>
          <a:prstGeom xmlns:a="http://schemas.openxmlformats.org/drawingml/2006/main" prst="ellipse">
            <a:avLst/>
          </a:prstGeom>
          <a:solidFill xmlns:a="http://schemas.openxmlformats.org/drawingml/2006/main">
            <a:srgbClr val="1E326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3</a:t>
            </a:r>
          </a:p>
        </p:txBody>
      </p:sp>
      <p:sp>
        <p:nvSpPr>
          <p:cNvPr id="12" name="">
            <a:extLst xmlns:a="http://schemas.openxmlformats.org/drawingml/2006/main">
              <a:ext uri="{FF2B5EF4-FFF2-40B4-BE49-F238E27FC236}">
                <a16:creationId xmlns:a16="http://schemas.microsoft.com/office/drawing/2014/main" id="{DC9C0449-BB6E-41C6-ADF0-984F931E8D72}"/>
              </a:ext>
            </a:extLst>
          </p:cNvPr>
          <p:cNvSpPr>
            <a:spLocks xmlns:a="http://schemas.openxmlformats.org/drawingml/2006/main" noGrp="1"/>
          </p:cNvSpPr>
          <p:nvPr/>
        </p:nvSpPr>
        <p:spPr>
          <a:xfrm xmlns:a="http://schemas.openxmlformats.org/drawingml/2006/main">
            <a:off x="1428750" y="37147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Rotate</a:t>
            </a:r>
          </a:p>
        </p:txBody>
      </p:sp>
      <p:sp>
        <p:nvSpPr>
          <p:cNvPr id="13" name="">
            <a:extLst xmlns:a="http://schemas.openxmlformats.org/drawingml/2006/main">
              <a:ext uri="{FF2B5EF4-FFF2-40B4-BE49-F238E27FC236}">
                <a16:creationId xmlns:a16="http://schemas.microsoft.com/office/drawing/2014/main" id="{18F0C170-7986-418F-9B20-6BB1D1C3B91D}"/>
              </a:ext>
            </a:extLst>
          </p:cNvPr>
          <p:cNvSpPr>
            <a:spLocks xmlns:a="http://schemas.openxmlformats.org/drawingml/2006/main" noGrp="1"/>
          </p:cNvSpPr>
          <p:nvPr/>
        </p:nvSpPr>
        <p:spPr>
          <a:xfrm xmlns:a="http://schemas.openxmlformats.org/drawingml/2006/main">
            <a:off x="1428750" y="4095750"/>
            <a:ext cx="472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Move your attention to the next small group.</a:t>
            </a:r>
          </a:p>
        </p:txBody>
      </p:sp>
      <p:sp>
        <p:nvSpPr>
          <p:cNvPr id="14" name="">
            <a:extLst xmlns:a="http://schemas.openxmlformats.org/drawingml/2006/main">
              <a:ext uri="{FF2B5EF4-FFF2-40B4-BE49-F238E27FC236}">
                <a16:creationId xmlns:a16="http://schemas.microsoft.com/office/drawing/2014/main" id="{A557764B-4114-405E-9B15-1F0DC1D1B1E3}"/>
              </a:ext>
            </a:extLst>
          </p:cNvPr>
          <p:cNvSpPr>
            <a:spLocks xmlns:a="http://schemas.openxmlformats.org/drawingml/2006/main" noGrp="1"/>
          </p:cNvSpPr>
          <p:nvPr/>
        </p:nvSpPr>
        <p:spPr>
          <a:xfrm xmlns:a="http://schemas.openxmlformats.org/drawingml/2006/main">
            <a:off x="628650" y="4876800"/>
            <a:ext cx="552450" cy="552450"/>
          </a:xfrm>
          <a:prstGeom xmlns:a="http://schemas.openxmlformats.org/drawingml/2006/main" prst="ellipse">
            <a:avLst/>
          </a:prstGeom>
          <a:solidFill xmlns:a="http://schemas.openxmlformats.org/drawingml/2006/main">
            <a:srgbClr val="E3232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4</a:t>
            </a:r>
          </a:p>
        </p:txBody>
      </p:sp>
      <p:sp>
        <p:nvSpPr>
          <p:cNvPr id="15" name="">
            <a:extLst xmlns:a="http://schemas.openxmlformats.org/drawingml/2006/main">
              <a:ext uri="{FF2B5EF4-FFF2-40B4-BE49-F238E27FC236}">
                <a16:creationId xmlns:a16="http://schemas.microsoft.com/office/drawing/2014/main" id="{BBAA26DD-3E23-40FA-BCB1-3EA70596C8F4}"/>
              </a:ext>
            </a:extLst>
          </p:cNvPr>
          <p:cNvSpPr>
            <a:spLocks xmlns:a="http://schemas.openxmlformats.org/drawingml/2006/main" noGrp="1"/>
          </p:cNvSpPr>
          <p:nvPr/>
        </p:nvSpPr>
        <p:spPr>
          <a:xfrm xmlns:a="http://schemas.openxmlformats.org/drawingml/2006/main">
            <a:off x="1428750" y="48577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7233F"/>
                </a:solidFill>
                <a:latin typeface="DejaVu Sans"/>
                <a:ea typeface="DejaVu Sans"/>
                <a:cs typeface="DejaVu Sans"/>
              </a:defRPr>
            </a:pPr>
            <a:r>
              <a:rPr sz="1725" b="1">
                <a:solidFill>
                  <a:srgbClr val="17233F"/>
                </a:solidFill>
                <a:latin typeface="DejaVu Sans"/>
                <a:ea typeface="DejaVu Sans"/>
                <a:cs typeface="DejaVu Sans"/>
              </a:rPr>
              <a:t>Record</a:t>
            </a:r>
          </a:p>
        </p:txBody>
      </p:sp>
      <p:sp>
        <p:nvSpPr>
          <p:cNvPr id="16" name="">
            <a:extLst xmlns:a="http://schemas.openxmlformats.org/drawingml/2006/main">
              <a:ext uri="{FF2B5EF4-FFF2-40B4-BE49-F238E27FC236}">
                <a16:creationId xmlns:a16="http://schemas.microsoft.com/office/drawing/2014/main" id="{4BEA9EEE-DAEF-4249-A6DB-7BC9B01EAB18}"/>
              </a:ext>
            </a:extLst>
          </p:cNvPr>
          <p:cNvSpPr>
            <a:spLocks xmlns:a="http://schemas.openxmlformats.org/drawingml/2006/main" noGrp="1"/>
          </p:cNvSpPr>
          <p:nvPr/>
        </p:nvSpPr>
        <p:spPr>
          <a:xfrm xmlns:a="http://schemas.openxmlformats.org/drawingml/2006/main">
            <a:off x="1428750" y="5238750"/>
            <a:ext cx="472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6637A"/>
                </a:solidFill>
                <a:latin typeface="DejaVu Sans"/>
                <a:ea typeface="DejaVu Sans"/>
                <a:cs typeface="DejaVu Sans"/>
              </a:defRPr>
            </a:pPr>
            <a:r>
              <a:rPr sz="1350" b="0">
                <a:solidFill>
                  <a:srgbClr val="56637A"/>
                </a:solidFill>
                <a:latin typeface="DejaVu Sans"/>
                <a:ea typeface="DejaVu Sans"/>
                <a:cs typeface="DejaVu Sans"/>
              </a:rPr>
              <a:t>Write one or two examples soon after the match.</a:t>
            </a:r>
          </a:p>
        </p:txBody>
      </p:sp>
      <p:sp>
        <p:nvSpPr>
          <p:cNvPr id="17" name="">
            <a:extLst xmlns:a="http://schemas.openxmlformats.org/drawingml/2006/main">
              <a:ext uri="{FF2B5EF4-FFF2-40B4-BE49-F238E27FC236}">
                <a16:creationId xmlns:a16="http://schemas.microsoft.com/office/drawing/2014/main" id="{7D47B77D-5891-44F9-A816-C7A7E54B53E1}"/>
              </a:ext>
            </a:extLst>
          </p:cNvPr>
          <p:cNvSpPr>
            <a:spLocks xmlns:a="http://schemas.openxmlformats.org/drawingml/2006/main" noGrp="1"/>
          </p:cNvSpPr>
          <p:nvPr/>
        </p:nvSpPr>
        <p:spPr>
          <a:xfrm xmlns:a="http://schemas.openxmlformats.org/drawingml/2006/main">
            <a:off x="647700" y="6134100"/>
            <a:ext cx="560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lgn="l">
              <a:defRPr sz="1275" b="1">
                <a:solidFill>
                  <a:srgbClr val="3D7658"/>
                </a:solidFill>
                <a:latin typeface="DejaVu Sans"/>
                <a:ea typeface="DejaVu Sans"/>
                <a:cs typeface="DejaVu Sans"/>
              </a:defRPr>
            </a:pPr>
            <a:r>
              <a:rPr sz="1275" b="1">
                <a:solidFill>
                  <a:srgbClr val="3D7658"/>
                </a:solidFill>
                <a:latin typeface="DejaVu Sans"/>
                <a:ea typeface="DejaVu Sans"/>
                <a:cs typeface="DejaVu Sans"/>
              </a:rPr>
              <a:t>If you did not see an opportunity, mark it unobserved and look again later.</a:t>
            </a:r>
          </a:p>
        </p:txBody>
      </p:sp>
    </p:spTree>
    <p:extLst>
      <p:ext uri="{BB962C8B-B14F-4D97-AF65-F5344CB8AC3E}">
        <p14:creationId xmlns:p14="http://schemas.microsoft.com/office/powerpoint/2010/main" val="1049220542"/>
      </p:ext>
    </p:extLst>
  </p:cSld>
</p:sld>
</file>

<file path=ppt/slides/slide9.xml><?xml version="1.0" encoding="utf-8"?>
<p:sld xmlns:p="http://schemas.openxmlformats.org/presentationml/2006/main">
  <p:cSld>
    <p:bg>
      <p:bgPr>
        <a:solidFill xmlns:a="http://schemas.openxmlformats.org/drawingml/2006/main">
          <a:srgbClr val="F2F5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E0E28DD-6E4B-45BC-A409-34BED2D13A7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323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0F3E03-D75C-4E88-92A7-F4E6E6CD2690}"/>
              </a:ext>
            </a:extLst>
          </p:cNvPr>
          <p:cNvSpPr>
            <a:spLocks xmlns:a="http://schemas.openxmlformats.org/drawingml/2006/main" noGrp="1"/>
          </p:cNvSpPr>
          <p:nvPr/>
        </p:nvSpPr>
        <p:spPr>
          <a:xfrm xmlns:a="http://schemas.openxmlformats.org/drawingml/2006/main">
            <a:off x="609600" y="285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E3232E"/>
                </a:solidFill>
                <a:latin typeface="DejaVu Sans"/>
                <a:ea typeface="DejaVu Sans"/>
                <a:cs typeface="DejaVu Sans"/>
              </a:defRPr>
            </a:pPr>
            <a:r>
              <a:rPr sz="1050" b="1">
                <a:solidFill>
                  <a:srgbClr val="E3232E"/>
                </a:solidFill>
                <a:latin typeface="DejaVu Sans"/>
                <a:ea typeface="DejaVu Sans"/>
                <a:cs typeface="DejaVu Sans"/>
              </a:rPr>
              <a:t>COACH EVALUATION</a:t>
            </a:r>
          </a:p>
        </p:txBody>
      </p:sp>
      <p:sp>
        <p:nvSpPr>
          <p:cNvPr id="3" name="">
            <a:extLst xmlns:a="http://schemas.openxmlformats.org/drawingml/2006/main">
              <a:ext uri="{FF2B5EF4-FFF2-40B4-BE49-F238E27FC236}">
                <a16:creationId xmlns:a16="http://schemas.microsoft.com/office/drawing/2014/main" id="{9444A40B-DAE5-428F-9097-E04AD57DA437}"/>
              </a:ext>
            </a:extLst>
          </p:cNvPr>
          <p:cNvSpPr>
            <a:spLocks xmlns:a="http://schemas.openxmlformats.org/drawingml/2006/main" noGrp="1"/>
          </p:cNvSpPr>
          <p:nvPr/>
        </p:nvSpPr>
        <p:spPr>
          <a:xfrm xmlns:a="http://schemas.openxmlformats.org/drawingml/2006/main">
            <a:off x="609600" y="590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E3265"/>
                </a:solidFill>
                <a:latin typeface="DejaVu Sans"/>
                <a:ea typeface="DejaVu Sans"/>
                <a:cs typeface="DejaVu Sans"/>
              </a:defRPr>
            </a:pPr>
            <a:r>
              <a:rPr sz="2550" b="1">
                <a:solidFill>
                  <a:srgbClr val="1E3265"/>
                </a:solidFill>
                <a:latin typeface="DejaVu Sans"/>
                <a:ea typeface="DejaVu Sans"/>
                <a:cs typeface="DejaVu Sans"/>
              </a:rPr>
              <a:t>Observable notes create cleaner ratings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04dd59017a0431f"/>
          <a:stretch xmlns:a="http://schemas.openxmlformats.org/drawingml/2006/main"/>
        </p:blipFill>
        <p:spPr>
          <a:xfrm xmlns:a="http://schemas.openxmlformats.org/drawingml/2006/main">
            <a:off x="10934700" y="2667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B726FA-8C95-486E-B294-C2494CA9C3E0}"/>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D5DD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3D7410-8B76-46AC-A62D-93BAE04F4539}"/>
              </a:ext>
            </a:extLst>
          </p:cNvPr>
          <p:cNvSpPr>
            <a:spLocks xmlns:a="http://schemas.openxmlformats.org/drawingml/2006/main" noGrp="1"/>
          </p:cNvSpPr>
          <p:nvPr/>
        </p:nvSpPr>
        <p:spPr>
          <a:xfrm xmlns:a="http://schemas.openxmlformats.org/drawingml/2006/main">
            <a:off x="876300" y="1695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a:solidFill>
                  <a:srgbClr val="E3232E"/>
                </a:solidFill>
                <a:latin typeface="DejaVu Sans"/>
                <a:ea typeface="DejaVu Sans"/>
                <a:cs typeface="DejaVu Sans"/>
              </a:defRPr>
            </a:pPr>
            <a:r>
              <a:rPr sz="1125" b="1">
                <a:solidFill>
                  <a:srgbClr val="E3232E"/>
                </a:solidFill>
                <a:latin typeface="DejaVu Sans"/>
                <a:ea typeface="DejaVu Sans"/>
                <a:cs typeface="DejaVu Sans"/>
              </a:rPr>
              <a:t>VAGUE IMPRESSION</a:t>
            </a:r>
          </a:p>
        </p:txBody>
      </p:sp>
      <p:sp>
        <p:nvSpPr>
          <p:cNvPr id="7" name="">
            <a:extLst xmlns:a="http://schemas.openxmlformats.org/drawingml/2006/main">
              <a:ext uri="{FF2B5EF4-FFF2-40B4-BE49-F238E27FC236}">
                <a16:creationId xmlns:a16="http://schemas.microsoft.com/office/drawing/2014/main" id="{37EB4A5C-A640-48FD-A35A-6EF0FAA458F1}"/>
              </a:ext>
            </a:extLst>
          </p:cNvPr>
          <p:cNvSpPr>
            <a:spLocks xmlns:a="http://schemas.openxmlformats.org/drawingml/2006/main" noGrp="1"/>
          </p:cNvSpPr>
          <p:nvPr/>
        </p:nvSpPr>
        <p:spPr>
          <a:xfrm xmlns:a="http://schemas.openxmlformats.org/drawingml/2006/main">
            <a:off x="6572250" y="1695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a:solidFill>
                  <a:srgbClr val="3D7658"/>
                </a:solidFill>
                <a:latin typeface="DejaVu Sans"/>
                <a:ea typeface="DejaVu Sans"/>
                <a:cs typeface="DejaVu Sans"/>
              </a:defRPr>
            </a:pPr>
            <a:r>
              <a:rPr sz="1125" b="1">
                <a:solidFill>
                  <a:srgbClr val="3D7658"/>
                </a:solidFill>
                <a:latin typeface="DejaVu Sans"/>
                <a:ea typeface="DejaVu Sans"/>
                <a:cs typeface="DejaVu Sans"/>
              </a:rPr>
              <a:t>OBSERVABLE NOTE</a:t>
            </a:r>
          </a:p>
        </p:txBody>
      </p:sp>
      <p:sp>
        <p:nvSpPr>
          <p:cNvPr id="8" name="">
            <a:extLst xmlns:a="http://schemas.openxmlformats.org/drawingml/2006/main">
              <a:ext uri="{FF2B5EF4-FFF2-40B4-BE49-F238E27FC236}">
                <a16:creationId xmlns:a16="http://schemas.microsoft.com/office/drawing/2014/main" id="{1719B8BB-E7FF-4663-94AB-5F0E7B230F29}"/>
              </a:ext>
            </a:extLst>
          </p:cNvPr>
          <p:cNvSpPr>
            <a:spLocks xmlns:a="http://schemas.openxmlformats.org/drawingml/2006/main" noGrp="1"/>
          </p:cNvSpPr>
          <p:nvPr/>
        </p:nvSpPr>
        <p:spPr>
          <a:xfrm xmlns:a="http://schemas.openxmlformats.org/drawingml/2006/main">
            <a:off x="762000" y="2209800"/>
            <a:ext cx="4286250" cy="723900"/>
          </a:xfrm>
          <a:prstGeom xmlns:a="http://schemas.openxmlformats.org/drawingml/2006/main" prst="roundRect">
            <a:avLst>
              <a:gd name="adj" fmla="val 23684"/>
            </a:avLst>
          </a:prstGeom>
          <a:solidFill xmlns:a="http://schemas.openxmlformats.org/drawingml/2006/main">
            <a:srgbClr val="FDEBE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A108155-EC23-4D9D-9B1B-8AE6D00EBBAE}"/>
              </a:ext>
            </a:extLst>
          </p:cNvPr>
          <p:cNvSpPr>
            <a:spLocks xmlns:a="http://schemas.openxmlformats.org/drawingml/2006/main" noGrp="1"/>
          </p:cNvSpPr>
          <p:nvPr/>
        </p:nvSpPr>
        <p:spPr>
          <a:xfrm xmlns:a="http://schemas.openxmlformats.org/drawingml/2006/main">
            <a:off x="990600" y="2390775"/>
            <a:ext cx="382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7233F"/>
                </a:solidFill>
                <a:latin typeface="DejaVu Sans"/>
                <a:ea typeface="DejaVu Sans"/>
                <a:cs typeface="DejaVu Sans"/>
              </a:defRPr>
            </a:pPr>
            <a:r>
              <a:rPr sz="1575" b="1">
                <a:solidFill>
                  <a:srgbClr val="17233F"/>
                </a:solidFill>
                <a:latin typeface="DejaVu Sans"/>
                <a:ea typeface="DejaVu Sans"/>
                <a:cs typeface="DejaVu Sans"/>
              </a:rPr>
              <a:t>“Great hustle”</a:t>
            </a:r>
          </a:p>
        </p:txBody>
      </p:sp>
      <p:sp>
        <p:nvSpPr>
          <p:cNvPr id="10" name="">
            <a:extLst xmlns:a="http://schemas.openxmlformats.org/drawingml/2006/main">
              <a:ext uri="{FF2B5EF4-FFF2-40B4-BE49-F238E27FC236}">
                <a16:creationId xmlns:a16="http://schemas.microsoft.com/office/drawing/2014/main" id="{1FC607F7-2AAB-41F8-AB21-27261A7EA430}"/>
              </a:ext>
            </a:extLst>
          </p:cNvPr>
          <p:cNvSpPr>
            <a:spLocks xmlns:a="http://schemas.openxmlformats.org/drawingml/2006/main" noGrp="1"/>
          </p:cNvSpPr>
          <p:nvPr/>
        </p:nvSpPr>
        <p:spPr>
          <a:xfrm xmlns:a="http://schemas.openxmlformats.org/drawingml/2006/main">
            <a:off x="6438900" y="2209800"/>
            <a:ext cx="4286250" cy="723900"/>
          </a:xfrm>
          <a:prstGeom xmlns:a="http://schemas.openxmlformats.org/drawingml/2006/main" prst="roundRect">
            <a:avLst>
              <a:gd name="adj" fmla="val 23684"/>
            </a:avLst>
          </a:prstGeom>
          <a:solidFill xmlns:a="http://schemas.openxmlformats.org/drawingml/2006/main">
            <a:srgbClr val="EAF4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425D44-8FB0-4167-BC57-2DD1149BB92C}"/>
              </a:ext>
            </a:extLst>
          </p:cNvPr>
          <p:cNvSpPr>
            <a:spLocks xmlns:a="http://schemas.openxmlformats.org/drawingml/2006/main" noGrp="1"/>
          </p:cNvSpPr>
          <p:nvPr/>
        </p:nvSpPr>
        <p:spPr>
          <a:xfrm xmlns:a="http://schemas.openxmlformats.org/drawingml/2006/main">
            <a:off x="6648450" y="2314575"/>
            <a:ext cx="3867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ctr">
              <a:defRPr sz="1425" b="1">
                <a:solidFill>
                  <a:srgbClr val="17233F"/>
                </a:solidFill>
                <a:latin typeface="DejaVu Sans"/>
                <a:ea typeface="DejaVu Sans"/>
                <a:cs typeface="DejaVu Sans"/>
              </a:defRPr>
            </a:pPr>
            <a:r>
              <a:rPr sz="1425" b="1">
                <a:solidFill>
                  <a:srgbClr val="17233F"/>
                </a:solidFill>
                <a:latin typeface="DejaVu Sans"/>
                <a:ea typeface="DejaVu Sans"/>
                <a:cs typeface="DejaVu Sans"/>
              </a:rPr>
              <a:t>“Recovered quickly after several turnovers”</a:t>
            </a:r>
          </a:p>
        </p:txBody>
      </p:sp>
      <p:sp>
        <p:nvSpPr>
          <p:cNvPr id="12" name="">
            <a:extLst xmlns:a="http://schemas.openxmlformats.org/drawingml/2006/main">
              <a:ext uri="{FF2B5EF4-FFF2-40B4-BE49-F238E27FC236}">
                <a16:creationId xmlns:a16="http://schemas.microsoft.com/office/drawing/2014/main" id="{808A9747-7D85-4CEF-BF1C-FABEB3BD92C9}"/>
              </a:ext>
            </a:extLst>
          </p:cNvPr>
          <p:cNvSpPr>
            <a:spLocks xmlns:a="http://schemas.openxmlformats.org/drawingml/2006/main" noGrp="1"/>
          </p:cNvSpPr>
          <p:nvPr/>
        </p:nvSpPr>
        <p:spPr>
          <a:xfrm xmlns:a="http://schemas.openxmlformats.org/drawingml/2006/main">
            <a:off x="762000" y="3276600"/>
            <a:ext cx="4286250" cy="723900"/>
          </a:xfrm>
          <a:prstGeom xmlns:a="http://schemas.openxmlformats.org/drawingml/2006/main" prst="roundRect">
            <a:avLst>
              <a:gd name="adj" fmla="val 23684"/>
            </a:avLst>
          </a:prstGeom>
          <a:solidFill xmlns:a="http://schemas.openxmlformats.org/drawingml/2006/main">
            <a:srgbClr val="FDEBE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2F8EC3E-088D-40EB-8424-41538D60AD47}"/>
              </a:ext>
            </a:extLst>
          </p:cNvPr>
          <p:cNvSpPr>
            <a:spLocks xmlns:a="http://schemas.openxmlformats.org/drawingml/2006/main" noGrp="1"/>
          </p:cNvSpPr>
          <p:nvPr/>
        </p:nvSpPr>
        <p:spPr>
          <a:xfrm xmlns:a="http://schemas.openxmlformats.org/drawingml/2006/main">
            <a:off x="990600" y="3457575"/>
            <a:ext cx="382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7233F"/>
                </a:solidFill>
                <a:latin typeface="DejaVu Sans"/>
                <a:ea typeface="DejaVu Sans"/>
                <a:cs typeface="DejaVu Sans"/>
              </a:defRPr>
            </a:pPr>
            <a:r>
              <a:rPr sz="1575" b="1">
                <a:solidFill>
                  <a:srgbClr val="17233F"/>
                </a:solidFill>
                <a:latin typeface="DejaVu Sans"/>
                <a:ea typeface="DejaVu Sans"/>
                <a:cs typeface="DejaVu Sans"/>
              </a:rPr>
              <a:t>“Really good player”</a:t>
            </a:r>
          </a:p>
        </p:txBody>
      </p:sp>
      <p:sp>
        <p:nvSpPr>
          <p:cNvPr id="14" name="">
            <a:extLst xmlns:a="http://schemas.openxmlformats.org/drawingml/2006/main">
              <a:ext uri="{FF2B5EF4-FFF2-40B4-BE49-F238E27FC236}">
                <a16:creationId xmlns:a16="http://schemas.microsoft.com/office/drawing/2014/main" id="{71F5F324-F260-4595-8CA6-5971FE723BFB}"/>
              </a:ext>
            </a:extLst>
          </p:cNvPr>
          <p:cNvSpPr>
            <a:spLocks xmlns:a="http://schemas.openxmlformats.org/drawingml/2006/main" noGrp="1"/>
          </p:cNvSpPr>
          <p:nvPr/>
        </p:nvSpPr>
        <p:spPr>
          <a:xfrm xmlns:a="http://schemas.openxmlformats.org/drawingml/2006/main">
            <a:off x="6438900" y="3276600"/>
            <a:ext cx="4286250" cy="723900"/>
          </a:xfrm>
          <a:prstGeom xmlns:a="http://schemas.openxmlformats.org/drawingml/2006/main" prst="roundRect">
            <a:avLst>
              <a:gd name="adj" fmla="val 23684"/>
            </a:avLst>
          </a:prstGeom>
          <a:solidFill xmlns:a="http://schemas.openxmlformats.org/drawingml/2006/main">
            <a:srgbClr val="EAF4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082411-3B90-451F-9854-51EA7A42E6BA}"/>
              </a:ext>
            </a:extLst>
          </p:cNvPr>
          <p:cNvSpPr>
            <a:spLocks xmlns:a="http://schemas.openxmlformats.org/drawingml/2006/main" noGrp="1"/>
          </p:cNvSpPr>
          <p:nvPr/>
        </p:nvSpPr>
        <p:spPr>
          <a:xfrm xmlns:a="http://schemas.openxmlformats.org/drawingml/2006/main">
            <a:off x="6648450" y="3381375"/>
            <a:ext cx="3867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ctr">
              <a:defRPr sz="1425" b="1">
                <a:solidFill>
                  <a:srgbClr val="17233F"/>
                </a:solidFill>
                <a:latin typeface="DejaVu Sans"/>
                <a:ea typeface="DejaVu Sans"/>
                <a:cs typeface="DejaVu Sans"/>
              </a:defRPr>
            </a:pPr>
            <a:r>
              <a:rPr sz="1425" b="1">
                <a:solidFill>
                  <a:srgbClr val="17233F"/>
                </a:solidFill>
                <a:latin typeface="DejaVu Sans"/>
                <a:ea typeface="DejaVu Sans"/>
                <a:cs typeface="DejaVu Sans"/>
              </a:rPr>
              <a:t>“Controlled two passes under pressure”</a:t>
            </a:r>
          </a:p>
        </p:txBody>
      </p:sp>
      <p:sp>
        <p:nvSpPr>
          <p:cNvPr id="16" name="">
            <a:extLst xmlns:a="http://schemas.openxmlformats.org/drawingml/2006/main">
              <a:ext uri="{FF2B5EF4-FFF2-40B4-BE49-F238E27FC236}">
                <a16:creationId xmlns:a16="http://schemas.microsoft.com/office/drawing/2014/main" id="{0CB275F8-79A7-47BA-A2EC-C5ED0EB6CB0D}"/>
              </a:ext>
            </a:extLst>
          </p:cNvPr>
          <p:cNvSpPr>
            <a:spLocks xmlns:a="http://schemas.openxmlformats.org/drawingml/2006/main" noGrp="1"/>
          </p:cNvSpPr>
          <p:nvPr/>
        </p:nvSpPr>
        <p:spPr>
          <a:xfrm xmlns:a="http://schemas.openxmlformats.org/drawingml/2006/main">
            <a:off x="762000" y="4343400"/>
            <a:ext cx="4286250" cy="723900"/>
          </a:xfrm>
          <a:prstGeom xmlns:a="http://schemas.openxmlformats.org/drawingml/2006/main" prst="roundRect">
            <a:avLst>
              <a:gd name="adj" fmla="val 23684"/>
            </a:avLst>
          </a:prstGeom>
          <a:solidFill xmlns:a="http://schemas.openxmlformats.org/drawingml/2006/main">
            <a:srgbClr val="FDEBE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7271431-F888-4D42-BE80-C316529579A2}"/>
              </a:ext>
            </a:extLst>
          </p:cNvPr>
          <p:cNvSpPr>
            <a:spLocks xmlns:a="http://schemas.openxmlformats.org/drawingml/2006/main" noGrp="1"/>
          </p:cNvSpPr>
          <p:nvPr/>
        </p:nvSpPr>
        <p:spPr>
          <a:xfrm xmlns:a="http://schemas.openxmlformats.org/drawingml/2006/main">
            <a:off x="990600" y="4524375"/>
            <a:ext cx="382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7233F"/>
                </a:solidFill>
                <a:latin typeface="DejaVu Sans"/>
                <a:ea typeface="DejaVu Sans"/>
                <a:cs typeface="DejaVu Sans"/>
              </a:defRPr>
            </a:pPr>
            <a:r>
              <a:rPr sz="1575" b="1">
                <a:solidFill>
                  <a:srgbClr val="17233F"/>
                </a:solidFill>
                <a:latin typeface="DejaVu Sans"/>
                <a:ea typeface="DejaVu Sans"/>
                <a:cs typeface="DejaVu Sans"/>
              </a:rPr>
              <a:t>“Not aggressive”</a:t>
            </a:r>
          </a:p>
        </p:txBody>
      </p:sp>
      <p:sp>
        <p:nvSpPr>
          <p:cNvPr id="18" name="">
            <a:extLst xmlns:a="http://schemas.openxmlformats.org/drawingml/2006/main">
              <a:ext uri="{FF2B5EF4-FFF2-40B4-BE49-F238E27FC236}">
                <a16:creationId xmlns:a16="http://schemas.microsoft.com/office/drawing/2014/main" id="{52EEB1A1-94A1-4DB3-82BA-865894E0E239}"/>
              </a:ext>
            </a:extLst>
          </p:cNvPr>
          <p:cNvSpPr>
            <a:spLocks xmlns:a="http://schemas.openxmlformats.org/drawingml/2006/main" noGrp="1"/>
          </p:cNvSpPr>
          <p:nvPr/>
        </p:nvSpPr>
        <p:spPr>
          <a:xfrm xmlns:a="http://schemas.openxmlformats.org/drawingml/2006/main">
            <a:off x="6438900" y="4343400"/>
            <a:ext cx="4286250" cy="723900"/>
          </a:xfrm>
          <a:prstGeom xmlns:a="http://schemas.openxmlformats.org/drawingml/2006/main" prst="roundRect">
            <a:avLst>
              <a:gd name="adj" fmla="val 23684"/>
            </a:avLst>
          </a:prstGeom>
          <a:solidFill xmlns:a="http://schemas.openxmlformats.org/drawingml/2006/main">
            <a:srgbClr val="EAF4E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1FF2A2D-F851-41AB-A59E-F9C5C0F4ADA0}"/>
              </a:ext>
            </a:extLst>
          </p:cNvPr>
          <p:cNvSpPr>
            <a:spLocks xmlns:a="http://schemas.openxmlformats.org/drawingml/2006/main" noGrp="1"/>
          </p:cNvSpPr>
          <p:nvPr/>
        </p:nvSpPr>
        <p:spPr>
          <a:xfrm xmlns:a="http://schemas.openxmlformats.org/drawingml/2006/main">
            <a:off x="6648450" y="4448175"/>
            <a:ext cx="3867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ctr">
              <a:defRPr sz="1425" b="1">
                <a:solidFill>
                  <a:srgbClr val="17233F"/>
                </a:solidFill>
                <a:latin typeface="DejaVu Sans"/>
                <a:ea typeface="DejaVu Sans"/>
                <a:cs typeface="DejaVu Sans"/>
              </a:defRPr>
            </a:pPr>
            <a:r>
              <a:rPr sz="1425" b="1">
                <a:solidFill>
                  <a:srgbClr val="17233F"/>
                </a:solidFill>
                <a:latin typeface="DejaVu Sans"/>
                <a:ea typeface="DejaVu Sans"/>
                <a:cs typeface="DejaVu Sans"/>
              </a:rPr>
              <a:t>“Hesitated on two routine 50/50 balls”</a:t>
            </a:r>
          </a:p>
        </p:txBody>
      </p:sp>
      <p:sp>
        <p:nvSpPr>
          <p:cNvPr id="20" name="">
            <a:extLst xmlns:a="http://schemas.openxmlformats.org/drawingml/2006/main">
              <a:ext uri="{FF2B5EF4-FFF2-40B4-BE49-F238E27FC236}">
                <a16:creationId xmlns:a16="http://schemas.microsoft.com/office/drawing/2014/main" id="{BCC1872F-23FA-4937-A67A-6B4B8554262E}"/>
              </a:ext>
            </a:extLst>
          </p:cNvPr>
          <p:cNvSpPr>
            <a:spLocks xmlns:a="http://schemas.openxmlformats.org/drawingml/2006/main" noGrp="1"/>
          </p:cNvSpPr>
          <p:nvPr/>
        </p:nvSpPr>
        <p:spPr>
          <a:xfrm xmlns:a="http://schemas.openxmlformats.org/drawingml/2006/main">
            <a:off x="1581150" y="5619750"/>
            <a:ext cx="9029700" cy="590550"/>
          </a:xfrm>
          <a:prstGeom xmlns:a="http://schemas.openxmlformats.org/drawingml/2006/main" prst="roundRect">
            <a:avLst>
              <a:gd name="adj" fmla="val 29032"/>
            </a:avLst>
          </a:prstGeom>
          <a:solidFill xmlns:a="http://schemas.openxmlformats.org/drawingml/2006/main">
            <a:srgbClr val="1E326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18CDCD0-B96C-4FE6-B606-BB7C31721D28}"/>
              </a:ext>
            </a:extLst>
          </p:cNvPr>
          <p:cNvSpPr>
            <a:spLocks xmlns:a="http://schemas.openxmlformats.org/drawingml/2006/main" noGrp="1"/>
          </p:cNvSpPr>
          <p:nvPr/>
        </p:nvSpPr>
        <p:spPr>
          <a:xfrm xmlns:a="http://schemas.openxmlformats.org/drawingml/2006/main">
            <a:off x="1809750" y="57721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Record attendance and family volunteering separately from soccer skill</a:t>
            </a:r>
          </a:p>
        </p:txBody>
      </p:sp>
      <p:sp>
        <p:nvSpPr>
          <p:cNvPr id="22" name="">
            <a:extLst xmlns:a="http://schemas.openxmlformats.org/drawingml/2006/main">
              <a:ext uri="{FF2B5EF4-FFF2-40B4-BE49-F238E27FC236}">
                <a16:creationId xmlns:a16="http://schemas.microsoft.com/office/drawing/2014/main" id="{7D22E3D0-029B-424C-A355-5EBD13D791E6}"/>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56637A"/>
                </a:solidFill>
                <a:latin typeface="DejaVu Sans"/>
                <a:ea typeface="DejaVu Sans"/>
                <a:cs typeface="DejaVu Sans"/>
              </a:defRPr>
            </a:pPr>
            <a:r>
              <a:rPr sz="825" b="0">
                <a:solidFill>
                  <a:srgbClr val="56637A"/>
                </a:solidFill>
                <a:latin typeface="DejaVu Sans"/>
                <a:ea typeface="DejaVu Sans"/>
                <a:cs typeface="DejaVu Sans"/>
              </a:rPr>
              <a:t>Cypress AYSO Region 154  |  9</a:t>
            </a:r>
          </a:p>
        </p:txBody>
      </p:sp>
    </p:spTree>
    <p:extLst>
      <p:ext uri="{BB962C8B-B14F-4D97-AF65-F5344CB8AC3E}">
        <p14:creationId xmlns:p14="http://schemas.microsoft.com/office/powerpoint/2010/main" val="1310898046"/>
      </p:ext>
    </p:extLst>
  </p:cSld>
</p:sld>
</file>

<file path=ppt/slides/slide10.xml><?xml version="1.0" encoding="utf-8"?>
<p:sld xmlns:p="http://schemas.openxmlformats.org/presentationml/2006/main">
  <p:cSld>
    <p:bg>
      <p:bgPr>
        <a:solidFill xmlns:a="http://schemas.openxmlformats.org/drawingml/2006/main">
          <a:srgbClr val="1E3265"/>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cb284950574444d"/>
          <a:stretch xmlns:a="http://schemas.openxmlformats.org/drawingml/2006/main"/>
        </p:blipFill>
        <p:spPr>
          <a:xfrm xmlns:a="http://schemas.openxmlformats.org/drawingml/2006/main">
            <a:off x="4705350" y="609600"/>
            <a:ext cx="2781300" cy="2781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1DD7E3-45CD-427E-A57F-82474221299D}"/>
              </a:ext>
            </a:extLst>
          </p:cNvPr>
          <p:cNvSpPr>
            <a:spLocks xmlns:a="http://schemas.openxmlformats.org/drawingml/2006/main" noGrp="1"/>
          </p:cNvSpPr>
          <p:nvPr/>
        </p:nvSpPr>
        <p:spPr>
          <a:xfrm xmlns:a="http://schemas.openxmlformats.org/drawingml/2006/main">
            <a:off x="1809750" y="37528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925" b="1">
                <a:solidFill>
                  <a:srgbClr val="FFFFFF"/>
                </a:solidFill>
                <a:latin typeface="DejaVu Sans"/>
                <a:ea typeface="DejaVu Sans"/>
                <a:cs typeface="DejaVu Sans"/>
              </a:defRPr>
            </a:pPr>
            <a:r>
              <a:rPr sz="2925" b="1">
                <a:solidFill>
                  <a:srgbClr val="FFFFFF"/>
                </a:solidFill>
                <a:latin typeface="DejaVu Sans"/>
                <a:ea typeface="DejaVu Sans"/>
                <a:cs typeface="DejaVu Sans"/>
              </a:rPr>
              <a:t>Thank you, coaches</a:t>
            </a:r>
          </a:p>
        </p:txBody>
      </p:sp>
      <p:sp>
        <p:nvSpPr>
          <p:cNvPr id="3" name="">
            <a:extLst xmlns:a="http://schemas.openxmlformats.org/drawingml/2006/main">
              <a:ext uri="{FF2B5EF4-FFF2-40B4-BE49-F238E27FC236}">
                <a16:creationId xmlns:a16="http://schemas.microsoft.com/office/drawing/2014/main" id="{81402E54-AA0D-4E14-BAB1-1D5EB30D0630}"/>
              </a:ext>
            </a:extLst>
          </p:cNvPr>
          <p:cNvSpPr>
            <a:spLocks xmlns:a="http://schemas.openxmlformats.org/drawingml/2006/main" noGrp="1"/>
          </p:cNvSpPr>
          <p:nvPr/>
        </p:nvSpPr>
        <p:spPr>
          <a:xfrm xmlns:a="http://schemas.openxmlformats.org/drawingml/2006/main">
            <a:off x="1905000" y="4514850"/>
            <a:ext cx="838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0">
                <a:solidFill>
                  <a:srgbClr val="DDE6F7"/>
                </a:solidFill>
                <a:latin typeface="DejaVu Sans"/>
                <a:ea typeface="DejaVu Sans"/>
                <a:cs typeface="DejaVu Sans"/>
              </a:defRPr>
            </a:pPr>
            <a:r>
              <a:rPr sz="1725" b="0">
                <a:solidFill>
                  <a:srgbClr val="DDE6F7"/>
                </a:solidFill>
                <a:latin typeface="DejaVu Sans"/>
                <a:ea typeface="DejaVu Sans"/>
                <a:cs typeface="DejaVu Sans"/>
              </a:rPr>
              <a:t>Clear, consistent observations support better player experiences.</a:t>
            </a:r>
          </a:p>
        </p:txBody>
      </p:sp>
      <p:sp>
        <p:nvSpPr>
          <p:cNvPr id="4" name="">
            <a:extLst xmlns:a="http://schemas.openxmlformats.org/drawingml/2006/main">
              <a:ext uri="{FF2B5EF4-FFF2-40B4-BE49-F238E27FC236}">
                <a16:creationId xmlns:a16="http://schemas.microsoft.com/office/drawing/2014/main" id="{0A12F0C8-1DCE-4298-926C-9C8D633AFBC1}"/>
              </a:ext>
            </a:extLst>
          </p:cNvPr>
          <p:cNvSpPr>
            <a:spLocks xmlns:a="http://schemas.openxmlformats.org/drawingml/2006/main" noGrp="1"/>
          </p:cNvSpPr>
          <p:nvPr/>
        </p:nvSpPr>
        <p:spPr>
          <a:xfrm xmlns:a="http://schemas.openxmlformats.org/drawingml/2006/main">
            <a:off x="2628900" y="5410200"/>
            <a:ext cx="6934200" cy="647700"/>
          </a:xfrm>
          <a:prstGeom xmlns:a="http://schemas.openxmlformats.org/drawingml/2006/main" prst="roundRect">
            <a:avLst>
              <a:gd name="adj" fmla="val 29412"/>
            </a:avLst>
          </a:prstGeom>
          <a:solidFill xmlns:a="http://schemas.openxmlformats.org/drawingml/2006/main">
            <a:srgbClr val="E3232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29F5B7-9ED9-4346-A946-4C509A66AF37}"/>
              </a:ext>
            </a:extLst>
          </p:cNvPr>
          <p:cNvSpPr>
            <a:spLocks xmlns:a="http://schemas.openxmlformats.org/drawingml/2006/main" noGrp="1"/>
          </p:cNvSpPr>
          <p:nvPr/>
        </p:nvSpPr>
        <p:spPr>
          <a:xfrm xmlns:a="http://schemas.openxmlformats.org/drawingml/2006/main">
            <a:off x="2895600" y="5562600"/>
            <a:ext cx="6400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Balanced teams start with honest observations</a:t>
            </a:r>
          </a:p>
        </p:txBody>
      </p:sp>
    </p:spTree>
    <p:extLst>
      <p:ext uri="{BB962C8B-B14F-4D97-AF65-F5344CB8AC3E}">
        <p14:creationId xmlns:p14="http://schemas.microsoft.com/office/powerpoint/2010/main" val="161537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2026-09-26T14:22:18.7510000Z</dcterms:created>
  <dcterms:modified xsi:type="dcterms:W3CDTF">2026-09-26T14:22:18.7520000Z</dcterms:modified>
</coreProperties>
</file>